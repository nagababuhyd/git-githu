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sldSz cx="12192000" cy="6858000"/>
  <p:notesSz cx="6858000" cy="9144000"/>
  <p:embeddedFontLst>
    <p:embeddedFont>
      <p:font typeface="Urbanist" panose="020B0604020202020204" charset="0"/>
      <p:regular r:id="rId67"/>
      <p:bold r:id="rId68"/>
      <p:italic r:id="rId69"/>
      <p:boldItalic r:id="rId7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91" y="38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font" Target="fonts/font2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notesMaster" Target="notesMasters/notesMaster1.xml"/><Relationship Id="rId74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font" Target="fonts/font3.fntdata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font" Target="fonts/font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71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" name="Google Shape;8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2" name="Google Shape;13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0" name="Google Shape;290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9" name="Google Shape;319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5" name="Google Shape;335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2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48" name="Google Shape;348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p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0" name="Google Shape;380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1" name="Google Shape;391;p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2" name="Google Shape;392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2" name="Google Shape;402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5" name="Google Shape;415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1" name="Google Shape;421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2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2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5" name="Google Shape;465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79" name="Google Shape;479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p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02" name="Google Shape;502;p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p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15" name="Google Shape;515;p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3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9" name="Google Shape;529;p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p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5" name="Google Shape;545;p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0" name="Google Shape;560;p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1" name="Google Shape;561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3" name="Google Shape;573;p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7" name="Google Shape;587;p3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8" name="Google Shape;588;p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" name="Google Shape;593;p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4" name="Google Shape;594;p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1" name="Google Shape;601;p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9" name="Google Shape;619;p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2" name="Google Shape;642;p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0" name="Google Shape;660;p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61" name="Google Shape;661;p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p4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7" name="Google Shape;677;p4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4" name="Google Shape;694;p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5" name="Google Shape;695;p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2" name="Google Shape;712;p4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3" name="Google Shape;713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8" name="Google Shape;728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Google Shape;747;p4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48" name="Google Shape;748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2" name="Google Shape;762;p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3" name="Google Shape;763;p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p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4" name="Google Shape;774;p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p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0" name="Google Shape;78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7" name="Google Shape;787;p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8" name="Google Shape;788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5" name="Google Shape;805;p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6" name="Google Shape;826;p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7" name="Google Shape;827;p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0" name="Google Shape;840;p5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5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2" name="Google Shape;852;p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3" name="Google Shape;853;p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Google Shape;863;p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4" name="Google Shape;864;p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1" name="Google Shape;881;p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2" name="Google Shape;882;p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3" name="Google Shape;893;p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94" name="Google Shape;894;p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9" name="Google Shape;909;p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0" name="Google Shape;910;p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0" name="Google Shape;920;p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1" name="Google Shape;921;p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8" name="Google Shape;938;p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39" name="Google Shape;939;p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4" name="Google Shape;944;p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5" name="Google Shape;945;p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1" name="Google Shape;951;p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52" name="Google Shape;952;p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0" name="Google Shape;980;p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1" name="Google Shape;981;p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8.png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1.png"/><Relationship Id="rId7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5" Type="http://schemas.openxmlformats.org/officeDocument/2006/relationships/image" Target="../media/image29.png"/><Relationship Id="rId4" Type="http://schemas.openxmlformats.org/officeDocument/2006/relationships/image" Target="../media/image19.png"/><Relationship Id="rId9" Type="http://schemas.openxmlformats.org/officeDocument/2006/relationships/image" Target="../media/image3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6.pn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7.png"/><Relationship Id="rId4" Type="http://schemas.openxmlformats.org/officeDocument/2006/relationships/image" Target="../media/image9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0.png"/><Relationship Id="rId4" Type="http://schemas.openxmlformats.org/officeDocument/2006/relationships/image" Target="../media/image9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1.pn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10" Type="http://schemas.openxmlformats.org/officeDocument/2006/relationships/image" Target="../media/image48.png"/><Relationship Id="rId4" Type="http://schemas.openxmlformats.org/officeDocument/2006/relationships/image" Target="../media/image42.png"/><Relationship Id="rId9" Type="http://schemas.openxmlformats.org/officeDocument/2006/relationships/image" Target="../media/image47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1.png"/><Relationship Id="rId5" Type="http://schemas.openxmlformats.org/officeDocument/2006/relationships/image" Target="../media/image50.png"/><Relationship Id="rId4" Type="http://schemas.openxmlformats.org/officeDocument/2006/relationships/image" Target="../media/image49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4.png"/><Relationship Id="rId5" Type="http://schemas.openxmlformats.org/officeDocument/2006/relationships/image" Target="../media/image53.png"/><Relationship Id="rId4" Type="http://schemas.openxmlformats.org/officeDocument/2006/relationships/image" Target="../media/image19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3" Type="http://schemas.openxmlformats.org/officeDocument/2006/relationships/image" Target="../media/image1.png"/><Relationship Id="rId7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5" Type="http://schemas.openxmlformats.org/officeDocument/2006/relationships/image" Target="../media/image56.png"/><Relationship Id="rId4" Type="http://schemas.openxmlformats.org/officeDocument/2006/relationships/image" Target="../media/image55.png"/><Relationship Id="rId9" Type="http://schemas.openxmlformats.org/officeDocument/2006/relationships/image" Target="../media/image35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1.png"/><Relationship Id="rId4" Type="http://schemas.openxmlformats.org/officeDocument/2006/relationships/image" Target="../media/image6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5.png"/><Relationship Id="rId4" Type="http://schemas.openxmlformats.org/officeDocument/2006/relationships/image" Target="../media/image64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57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8.png"/><Relationship Id="rId4" Type="http://schemas.openxmlformats.org/officeDocument/2006/relationships/image" Target="../media/image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1.png"/><Relationship Id="rId4" Type="http://schemas.openxmlformats.org/officeDocument/2006/relationships/image" Target="../media/image1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9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72.png"/><Relationship Id="rId4" Type="http://schemas.openxmlformats.org/officeDocument/2006/relationships/image" Target="../media/image55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8.png"/><Relationship Id="rId3" Type="http://schemas.openxmlformats.org/officeDocument/2006/relationships/image" Target="../media/image1.png"/><Relationship Id="rId7" Type="http://schemas.openxmlformats.org/officeDocument/2006/relationships/image" Target="../media/image77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6.png"/><Relationship Id="rId5" Type="http://schemas.openxmlformats.org/officeDocument/2006/relationships/image" Target="../media/image75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1.png"/><Relationship Id="rId4" Type="http://schemas.openxmlformats.org/officeDocument/2006/relationships/image" Target="../media/image80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2.png"/><Relationship Id="rId4" Type="http://schemas.openxmlformats.org/officeDocument/2006/relationships/image" Target="../media/image9.png"/></Relationships>
</file>

<file path=ppt/slides/_rels/slide4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86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7.png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9.png"/><Relationship Id="rId3" Type="http://schemas.openxmlformats.org/officeDocument/2006/relationships/image" Target="../media/image1.png"/><Relationship Id="rId7" Type="http://schemas.openxmlformats.org/officeDocument/2006/relationships/image" Target="../media/image88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90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4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3.png"/><Relationship Id="rId5" Type="http://schemas.openxmlformats.org/officeDocument/2006/relationships/image" Target="../media/image92.png"/><Relationship Id="rId4" Type="http://schemas.openxmlformats.org/officeDocument/2006/relationships/image" Target="../media/image91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5.png"/><Relationship Id="rId4" Type="http://schemas.openxmlformats.org/officeDocument/2006/relationships/image" Target="../media/image80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98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7.png"/><Relationship Id="rId5" Type="http://schemas.openxmlformats.org/officeDocument/2006/relationships/image" Target="../media/image96.png"/><Relationship Id="rId4" Type="http://schemas.openxmlformats.org/officeDocument/2006/relationships/image" Target="../media/image58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7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1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1.xml"/></Relationships>
</file>

<file path=ppt/slides/_rels/slide5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2.png"/><Relationship Id="rId3" Type="http://schemas.openxmlformats.org/officeDocument/2006/relationships/image" Target="../media/image1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1.png"/><Relationship Id="rId5" Type="http://schemas.openxmlformats.org/officeDocument/2006/relationships/image" Target="../media/image100.png"/><Relationship Id="rId4" Type="http://schemas.openxmlformats.org/officeDocument/2006/relationships/image" Target="../media/image99.png"/><Relationship Id="rId9" Type="http://schemas.openxmlformats.org/officeDocument/2006/relationships/image" Target="../media/image35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4.png"/><Relationship Id="rId4" Type="http://schemas.openxmlformats.org/officeDocument/2006/relationships/image" Target="../media/image103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5.png"/><Relationship Id="rId4" Type="http://schemas.openxmlformats.org/officeDocument/2006/relationships/image" Target="../media/image9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1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7.png"/><Relationship Id="rId3" Type="http://schemas.openxmlformats.org/officeDocument/2006/relationships/image" Target="../media/image1.png"/><Relationship Id="rId7" Type="http://schemas.openxmlformats.org/officeDocument/2006/relationships/image" Target="../media/image106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Relationship Id="rId9" Type="http://schemas.openxmlformats.org/officeDocument/2006/relationships/image" Target="../media/image108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0.png"/><Relationship Id="rId4" Type="http://schemas.openxmlformats.org/officeDocument/2006/relationships/image" Target="../media/image109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9.png"/><Relationship Id="rId5" Type="http://schemas.openxmlformats.org/officeDocument/2006/relationships/image" Target="../media/image112.png"/><Relationship Id="rId4" Type="http://schemas.openxmlformats.org/officeDocument/2006/relationships/image" Target="../media/image111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4.png"/><Relationship Id="rId4" Type="http://schemas.openxmlformats.org/officeDocument/2006/relationships/image" Target="../media/image99.png"/></Relationships>
</file>

<file path=ppt/slides/_rels/slide6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9.png"/><Relationship Id="rId3" Type="http://schemas.openxmlformats.org/officeDocument/2006/relationships/image" Target="../media/image1.png"/><Relationship Id="rId7" Type="http://schemas.openxmlformats.org/officeDocument/2006/relationships/image" Target="../media/image118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7.png"/><Relationship Id="rId5" Type="http://schemas.openxmlformats.org/officeDocument/2006/relationships/image" Target="../media/image116.png"/><Relationship Id="rId4" Type="http://schemas.openxmlformats.org/officeDocument/2006/relationships/image" Target="../media/image115.png"/><Relationship Id="rId9" Type="http://schemas.openxmlformats.org/officeDocument/2006/relationships/image" Target="../media/image120.pn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1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1.xml"/></Relationships>
</file>

<file path=ppt/slides/_rels/slide6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6.png"/><Relationship Id="rId3" Type="http://schemas.openxmlformats.org/officeDocument/2006/relationships/image" Target="../media/image121.png"/><Relationship Id="rId7" Type="http://schemas.openxmlformats.org/officeDocument/2006/relationships/image" Target="../media/image125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4.png"/><Relationship Id="rId5" Type="http://schemas.openxmlformats.org/officeDocument/2006/relationships/image" Target="../media/image123.png"/><Relationship Id="rId4" Type="http://schemas.openxmlformats.org/officeDocument/2006/relationships/image" Target="../media/image122.png"/><Relationship Id="rId9" Type="http://schemas.openxmlformats.org/officeDocument/2006/relationships/image" Target="../media/image127.png"/></Relationships>
</file>

<file path=ppt/slides/_rels/slide6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3.png"/><Relationship Id="rId3" Type="http://schemas.openxmlformats.org/officeDocument/2006/relationships/image" Target="../media/image128.png"/><Relationship Id="rId7" Type="http://schemas.openxmlformats.org/officeDocument/2006/relationships/image" Target="../media/image132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1.png"/><Relationship Id="rId5" Type="http://schemas.openxmlformats.org/officeDocument/2006/relationships/image" Target="../media/image130.png"/><Relationship Id="rId4" Type="http://schemas.openxmlformats.org/officeDocument/2006/relationships/image" Target="../media/image12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10539" y="2662237"/>
            <a:ext cx="7370921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Mastering Git &amp; GitHub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586037" y="3662362"/>
            <a:ext cx="70199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5-Day Workshop: From Local Commits to Collaborative Workflows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" name="Google Shape;91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/>
          <p:nvPr/>
        </p:nvSpPr>
        <p:spPr>
          <a:xfrm>
            <a:off x="5619750" y="279558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3085623" y="3128962"/>
            <a:ext cx="6020752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1: The Local Setup</a:t>
            </a:r>
            <a:endParaRPr dirty="0"/>
          </a:p>
        </p:txBody>
      </p:sp>
      <p:sp>
        <p:nvSpPr>
          <p:cNvPr id="94" name="Google Shape;94;p14"/>
          <p:cNvSpPr txBox="1"/>
          <p:nvPr/>
        </p:nvSpPr>
        <p:spPr>
          <a:xfrm>
            <a:off x="3548062" y="4005262"/>
            <a:ext cx="509587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 dirty="0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Installation, Configuration, and Your First Repository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5"/>
          <p:cNvSpPr txBox="1"/>
          <p:nvPr/>
        </p:nvSpPr>
        <p:spPr>
          <a:xfrm>
            <a:off x="2238375" y="2550318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is Version Control?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 dirty="0"/>
          </a:p>
        </p:txBody>
      </p:sp>
      <p:sp>
        <p:nvSpPr>
          <p:cNvPr id="101" name="Google Shape;101;p15"/>
          <p:cNvSpPr txBox="1"/>
          <p:nvPr/>
        </p:nvSpPr>
        <p:spPr>
          <a:xfrm>
            <a:off x="2238375" y="3012281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Installation &amp; Configuration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2238375" y="3474243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Three States of Git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103" name="Google Shape;103;p15"/>
          <p:cNvSpPr txBox="1"/>
          <p:nvPr/>
        </p:nvSpPr>
        <p:spPr>
          <a:xfrm>
            <a:off x="2238375" y="3936206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Your First Commit: init, add, commit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(15 min)</a:t>
            </a:r>
            <a:endParaRPr/>
          </a:p>
        </p:txBody>
      </p:sp>
      <p:sp>
        <p:nvSpPr>
          <p:cNvPr id="104" name="Google Shape;104;p15"/>
          <p:cNvSpPr txBox="1"/>
          <p:nvPr/>
        </p:nvSpPr>
        <p:spPr>
          <a:xfrm>
            <a:off x="2238375" y="4398168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Workshop &amp; Q&amp;A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(15 min)</a:t>
            </a:r>
            <a:endParaRPr/>
          </a:p>
        </p:txBody>
      </p:sp>
      <p:pic>
        <p:nvPicPr>
          <p:cNvPr id="105" name="Google Shape;10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59794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059906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52186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398383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445793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5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1 Agenda (1 Hour)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86000"/>
            <a:ext cx="5324475" cy="2838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86000"/>
            <a:ext cx="5324475" cy="28384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16"/>
          <p:cNvSpPr txBox="1"/>
          <p:nvPr/>
        </p:nvSpPr>
        <p:spPr>
          <a:xfrm>
            <a:off x="876300" y="2581275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What is a VCS?</a:t>
            </a:r>
            <a:endParaRPr/>
          </a:p>
        </p:txBody>
      </p:sp>
      <p:sp>
        <p:nvSpPr>
          <p:cNvPr id="119" name="Google Shape;119;p16"/>
          <p:cNvSpPr txBox="1"/>
          <p:nvPr/>
        </p:nvSpPr>
        <p:spPr>
          <a:xfrm>
            <a:off x="876300" y="3028950"/>
            <a:ext cx="47339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Version Control System (VCS) is a tool that records changes to files over time so you can recall specific versions later. It's a "save" button on steroids.</a:t>
            </a:r>
            <a:endParaRPr dirty="0"/>
          </a:p>
        </p:txBody>
      </p:sp>
      <p:sp>
        <p:nvSpPr>
          <p:cNvPr id="120" name="Google Shape;120;p16"/>
          <p:cNvSpPr txBox="1"/>
          <p:nvPr/>
        </p:nvSpPr>
        <p:spPr>
          <a:xfrm>
            <a:off x="876300" y="3971925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Think of it as a time machine for your code. You can undo mistakes, review history, and see who changed what, and why.</a:t>
            </a:r>
            <a:endParaRPr dirty="0"/>
          </a:p>
        </p:txBody>
      </p:sp>
      <p:sp>
        <p:nvSpPr>
          <p:cNvPr id="121" name="Google Shape;121;p16"/>
          <p:cNvSpPr txBox="1"/>
          <p:nvPr/>
        </p:nvSpPr>
        <p:spPr>
          <a:xfrm>
            <a:off x="6581775" y="2581275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Why Git?</a:t>
            </a:r>
            <a:endParaRPr/>
          </a:p>
        </p:txBody>
      </p:sp>
      <p:sp>
        <p:nvSpPr>
          <p:cNvPr id="122" name="Google Shape;122;p16"/>
          <p:cNvSpPr txBox="1"/>
          <p:nvPr/>
        </p:nvSpPr>
        <p:spPr>
          <a:xfrm>
            <a:off x="6581775" y="3028950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is a </a:t>
            </a:r>
            <a:r>
              <a:rPr lang="en-US" sz="1350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Distributed</a:t>
            </a:r>
            <a:r>
              <a:rPr lang="en-US" sz="1350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VCS. This means everyone on the team has a full, local copy of the project's history. This makes it:</a:t>
            </a:r>
            <a:endParaRPr dirty="0"/>
          </a:p>
        </p:txBody>
      </p:sp>
      <p:sp>
        <p:nvSpPr>
          <p:cNvPr id="123" name="Google Shape;123;p16"/>
          <p:cNvSpPr txBox="1"/>
          <p:nvPr/>
        </p:nvSpPr>
        <p:spPr>
          <a:xfrm>
            <a:off x="6867525" y="3714750"/>
            <a:ext cx="4448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Fast: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Most operations are local.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6867525" y="4086225"/>
            <a:ext cx="4448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Reliable: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You have multiple backups.</a:t>
            </a:r>
            <a:endParaRPr/>
          </a:p>
        </p:txBody>
      </p:sp>
      <p:sp>
        <p:nvSpPr>
          <p:cNvPr id="125" name="Google Shape;125;p16"/>
          <p:cNvSpPr txBox="1"/>
          <p:nvPr/>
        </p:nvSpPr>
        <p:spPr>
          <a:xfrm>
            <a:off x="6867525" y="4457700"/>
            <a:ext cx="444817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Flexible: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You can work completely offline.</a:t>
            </a:r>
            <a:endParaRPr/>
          </a:p>
        </p:txBody>
      </p:sp>
      <p:sp>
        <p:nvSpPr>
          <p:cNvPr id="126" name="Google Shape;126;p16"/>
          <p:cNvSpPr txBox="1"/>
          <p:nvPr/>
        </p:nvSpPr>
        <p:spPr>
          <a:xfrm>
            <a:off x="6629400" y="3714750"/>
            <a:ext cx="180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127" name="Google Shape;127;p16"/>
          <p:cNvSpPr txBox="1"/>
          <p:nvPr/>
        </p:nvSpPr>
        <p:spPr>
          <a:xfrm>
            <a:off x="6629400" y="4086225"/>
            <a:ext cx="180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128" name="Google Shape;128;p16"/>
          <p:cNvSpPr txBox="1"/>
          <p:nvPr/>
        </p:nvSpPr>
        <p:spPr>
          <a:xfrm>
            <a:off x="6629400" y="4457700"/>
            <a:ext cx="180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129" name="Google Shape;129;p16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is Version Control?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4" name="Google Shape;134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76400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6" name="Google Shape;136;p17"/>
          <p:cNvSpPr txBox="1"/>
          <p:nvPr/>
        </p:nvSpPr>
        <p:spPr>
          <a:xfrm>
            <a:off x="581025" y="1676400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Centralized (e.g., SVN)</a:t>
            </a:r>
            <a:endParaRPr dirty="0"/>
          </a:p>
        </p:txBody>
      </p:sp>
      <p:sp>
        <p:nvSpPr>
          <p:cNvPr id="137" name="Google Shape;137;p17"/>
          <p:cNvSpPr txBox="1"/>
          <p:nvPr/>
        </p:nvSpPr>
        <p:spPr>
          <a:xfrm>
            <a:off x="581025" y="2209800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single central server holds all the files and history. You "check out" files, work on them, and "check in" changes.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581025" y="3705225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Distributed (e.g., Git)</a:t>
            </a:r>
            <a:endParaRPr/>
          </a:p>
        </p:txBody>
      </p:sp>
      <p:sp>
        <p:nvSpPr>
          <p:cNvPr id="139" name="Google Shape;139;p17"/>
          <p:cNvSpPr txBox="1"/>
          <p:nvPr/>
        </p:nvSpPr>
        <p:spPr>
          <a:xfrm>
            <a:off x="581025" y="4238625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Every developer has a full, local copy (a "clone") of the entire repository, including its history.</a:t>
            </a:r>
            <a:endParaRPr dirty="0"/>
          </a:p>
        </p:txBody>
      </p:sp>
      <p:sp>
        <p:nvSpPr>
          <p:cNvPr id="140" name="Google Shape;140;p17"/>
          <p:cNvSpPr txBox="1"/>
          <p:nvPr/>
        </p:nvSpPr>
        <p:spPr>
          <a:xfrm>
            <a:off x="866775" y="2933700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Pro: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Easy to understand.</a:t>
            </a:r>
            <a:endParaRPr dirty="0"/>
          </a:p>
        </p:txBody>
      </p:sp>
      <p:sp>
        <p:nvSpPr>
          <p:cNvPr id="141" name="Google Shape;141;p17"/>
          <p:cNvSpPr txBox="1"/>
          <p:nvPr/>
        </p:nvSpPr>
        <p:spPr>
          <a:xfrm>
            <a:off x="866775" y="3319462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Con: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Single point of failure. Slow (requires network).</a:t>
            </a:r>
            <a:endParaRPr dirty="0"/>
          </a:p>
        </p:txBody>
      </p:sp>
      <p:sp>
        <p:nvSpPr>
          <p:cNvPr id="142" name="Google Shape;142;p17"/>
          <p:cNvSpPr txBox="1"/>
          <p:nvPr/>
        </p:nvSpPr>
        <p:spPr>
          <a:xfrm>
            <a:off x="866775" y="4962525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Fast, offline work, powerful branching.</a:t>
            </a:r>
            <a:endParaRPr/>
          </a:p>
        </p:txBody>
      </p:sp>
      <p:sp>
        <p:nvSpPr>
          <p:cNvPr id="143" name="Google Shape;143;p17"/>
          <p:cNvSpPr txBox="1"/>
          <p:nvPr/>
        </p:nvSpPr>
        <p:spPr>
          <a:xfrm>
            <a:off x="866775" y="5348287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Steeper learning curve (at first).</a:t>
            </a:r>
            <a:endParaRPr/>
          </a:p>
        </p:txBody>
      </p:sp>
      <p:pic>
        <p:nvPicPr>
          <p:cNvPr id="144" name="Google Shape;144;p1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685925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7"/>
          <p:cNvSpPr txBox="1"/>
          <p:nvPr/>
        </p:nvSpPr>
        <p:spPr>
          <a:xfrm>
            <a:off x="628650" y="2933700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146" name="Google Shape;146;p17"/>
          <p:cNvSpPr txBox="1"/>
          <p:nvPr/>
        </p:nvSpPr>
        <p:spPr>
          <a:xfrm>
            <a:off x="628650" y="3319462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147" name="Google Shape;147;p17"/>
          <p:cNvSpPr txBox="1"/>
          <p:nvPr/>
        </p:nvSpPr>
        <p:spPr>
          <a:xfrm>
            <a:off x="628650" y="4962525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628650" y="5348287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Centralized vs. Distributed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05050"/>
            <a:ext cx="34861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05050"/>
            <a:ext cx="34861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1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05050"/>
            <a:ext cx="348615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18"/>
          <p:cNvSpPr txBox="1"/>
          <p:nvPr/>
        </p:nvSpPr>
        <p:spPr>
          <a:xfrm>
            <a:off x="1879044" y="3190875"/>
            <a:ext cx="89011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Windows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876300" y="374332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Download the installer from git-scm.com. Run the installer and accept the default settings. This will install "Git Bash", an excellent terminal.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5720953" y="3190875"/>
            <a:ext cx="75009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macOS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4648200" y="374332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easiest way is with Homebrew. Open Terminal and run: brew install git. Alternatively, you can install Apple's "Command Line Tools".</a:t>
            </a:r>
            <a:endParaRPr/>
          </a:p>
        </p:txBody>
      </p:sp>
      <p:sp>
        <p:nvSpPr>
          <p:cNvPr id="162" name="Google Shape;162;p18"/>
          <p:cNvSpPr txBox="1"/>
          <p:nvPr/>
        </p:nvSpPr>
        <p:spPr>
          <a:xfrm>
            <a:off x="9602866" y="3190875"/>
            <a:ext cx="53006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Linux</a:t>
            </a:r>
            <a:endParaRPr/>
          </a:p>
        </p:txBody>
      </p:sp>
      <p:sp>
        <p:nvSpPr>
          <p:cNvPr id="163" name="Google Shape;163;p18"/>
          <p:cNvSpPr txBox="1"/>
          <p:nvPr/>
        </p:nvSpPr>
        <p:spPr>
          <a:xfrm>
            <a:off x="8420100" y="3743325"/>
            <a:ext cx="289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 your distribution's package manager. For example, on Ubuntu/Debian: sudo apt-get install git.</a:t>
            </a:r>
            <a:endParaRPr/>
          </a:p>
        </p:txBody>
      </p:sp>
      <p:pic>
        <p:nvPicPr>
          <p:cNvPr id="164" name="Google Shape;164;p1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7412" y="26193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53125" y="2619375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1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1212" y="26193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Installation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2" name="Google Shape;172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19"/>
          <p:cNvSpPr txBox="1"/>
          <p:nvPr/>
        </p:nvSpPr>
        <p:spPr>
          <a:xfrm>
            <a:off x="1809750" y="1640681"/>
            <a:ext cx="8572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 only need to do this once. This information is attached to every commit you make.</a:t>
            </a:r>
            <a:endParaRPr/>
          </a:p>
        </p:txBody>
      </p:sp>
      <p:sp>
        <p:nvSpPr>
          <p:cNvPr id="174" name="Google Shape;174;p19"/>
          <p:cNvSpPr txBox="1"/>
          <p:nvPr/>
        </p:nvSpPr>
        <p:spPr>
          <a:xfrm>
            <a:off x="2238375" y="2093118"/>
            <a:ext cx="814387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Set Your Name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This is your identity. Use your real name.</a:t>
            </a:r>
            <a:endParaRPr/>
          </a:p>
        </p:txBody>
      </p:sp>
      <p:sp>
        <p:nvSpPr>
          <p:cNvPr id="175" name="Google Shape;175;p19"/>
          <p:cNvSpPr txBox="1"/>
          <p:nvPr/>
        </p:nvSpPr>
        <p:spPr>
          <a:xfrm>
            <a:off x="2238375" y="3378993"/>
            <a:ext cx="814387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Set Your Email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Use the same email you will use for GitHub.</a:t>
            </a:r>
            <a:endParaRPr/>
          </a:p>
        </p:txBody>
      </p:sp>
      <p:sp>
        <p:nvSpPr>
          <p:cNvPr id="176" name="Google Shape;176;p19"/>
          <p:cNvSpPr txBox="1"/>
          <p:nvPr/>
        </p:nvSpPr>
        <p:spPr>
          <a:xfrm>
            <a:off x="2238375" y="4664868"/>
            <a:ext cx="814387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Set Default Branch Name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modern best practice.</a:t>
            </a:r>
            <a:endParaRPr/>
          </a:p>
        </p:txBody>
      </p:sp>
      <p:pic>
        <p:nvPicPr>
          <p:cNvPr id="177" name="Google Shape;177;p1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14074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42661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712493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p19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First-Time Configuration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5" name="Google Shape;18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683543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7" name="Google Shape;187;p20"/>
          <p:cNvSpPr txBox="1"/>
          <p:nvPr/>
        </p:nvSpPr>
        <p:spPr>
          <a:xfrm>
            <a:off x="581025" y="1683543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1. Working Directory</a:t>
            </a:r>
            <a:endParaRPr/>
          </a:p>
        </p:txBody>
      </p:sp>
      <p:sp>
        <p:nvSpPr>
          <p:cNvPr id="188" name="Google Shape;188;p20"/>
          <p:cNvSpPr txBox="1"/>
          <p:nvPr/>
        </p:nvSpPr>
        <p:spPr>
          <a:xfrm>
            <a:off x="581025" y="2216943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All your project files and folders. This is where you edit, add, and delete files. Any file you haven't "added" is just here.</a:t>
            </a:r>
            <a:endParaRPr/>
          </a:p>
        </p:txBody>
      </p:sp>
      <p:sp>
        <p:nvSpPr>
          <p:cNvPr id="189" name="Google Shape;189;p20"/>
          <p:cNvSpPr txBox="1"/>
          <p:nvPr/>
        </p:nvSpPr>
        <p:spPr>
          <a:xfrm>
            <a:off x="581025" y="2940843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2. Staging Area (Index)</a:t>
            </a:r>
            <a:endParaRPr dirty="0"/>
          </a:p>
        </p:txBody>
      </p:sp>
      <p:sp>
        <p:nvSpPr>
          <p:cNvPr id="190" name="Google Shape;190;p20"/>
          <p:cNvSpPr txBox="1"/>
          <p:nvPr/>
        </p:nvSpPr>
        <p:spPr>
          <a:xfrm>
            <a:off x="581025" y="3474243"/>
            <a:ext cx="53244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"holding area" or "shopping cart" for changes you want to include in your next commit. This lets you build up a commit piece by piece.</a:t>
            </a:r>
            <a:endParaRPr dirty="0"/>
          </a:p>
        </p:txBody>
      </p:sp>
      <p:sp>
        <p:nvSpPr>
          <p:cNvPr id="191" name="Google Shape;191;p20"/>
          <p:cNvSpPr txBox="1"/>
          <p:nvPr/>
        </p:nvSpPr>
        <p:spPr>
          <a:xfrm>
            <a:off x="581025" y="4469606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 dirty="0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3. Repository (.git </a:t>
            </a:r>
            <a:r>
              <a:rPr lang="en-US" sz="2250" b="1" i="0" u="none" strike="noStrike" cap="none" dirty="0" err="1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dir</a:t>
            </a:r>
            <a:r>
              <a:rPr lang="en-US" sz="2250" b="1" i="0" u="none" strike="noStrike" cap="none" dirty="0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)</a:t>
            </a:r>
            <a:endParaRPr dirty="0"/>
          </a:p>
        </p:txBody>
      </p:sp>
      <p:sp>
        <p:nvSpPr>
          <p:cNvPr id="192" name="Google Shape;192;p20"/>
          <p:cNvSpPr txBox="1"/>
          <p:nvPr/>
        </p:nvSpPr>
        <p:spPr>
          <a:xfrm>
            <a:off x="581025" y="5003006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permanent snapshot of your project's history. Commits are saved here in the hidden .git folder.</a:t>
            </a:r>
            <a:endParaRPr dirty="0"/>
          </a:p>
        </p:txBody>
      </p:sp>
      <p:pic>
        <p:nvPicPr>
          <p:cNvPr id="193" name="Google Shape;193;p2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693068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20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Three States of Git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9" name="Google Shape;199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 txBox="1"/>
          <p:nvPr/>
        </p:nvSpPr>
        <p:spPr>
          <a:xfrm>
            <a:off x="1809750" y="2055018"/>
            <a:ext cx="8572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init creates a new Git repository in your current folder.</a:t>
            </a:r>
            <a:endParaRPr/>
          </a:p>
        </p:txBody>
      </p:sp>
      <p:sp>
        <p:nvSpPr>
          <p:cNvPr id="201" name="Google Shape;201;p21"/>
          <p:cNvSpPr txBox="1"/>
          <p:nvPr/>
        </p:nvSpPr>
        <p:spPr>
          <a:xfrm>
            <a:off x="2238375" y="2507456"/>
            <a:ext cx="8143875" cy="778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Initialize the Repository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Creates the hidden .git folder.</a:t>
            </a:r>
          </a:p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</a:t>
            </a:r>
            <a:r>
              <a:rPr lang="en-US" sz="1425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init</a:t>
            </a:r>
            <a:endParaRPr dirty="0"/>
          </a:p>
        </p:txBody>
      </p:sp>
      <p:sp>
        <p:nvSpPr>
          <p:cNvPr id="202" name="Google Shape;202;p21"/>
          <p:cNvSpPr txBox="1"/>
          <p:nvPr/>
        </p:nvSpPr>
        <p:spPr>
          <a:xfrm>
            <a:off x="2238375" y="4021931"/>
            <a:ext cx="8143875" cy="132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 dirty="0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Check the Status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status is your most-used command. It tells you what's going on.</a:t>
            </a:r>
            <a:endParaRPr dirty="0"/>
          </a:p>
        </p:txBody>
      </p:sp>
      <p:pic>
        <p:nvPicPr>
          <p:cNvPr id="203" name="Google Shape;203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55508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4" name="Google Shape;204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069556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21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1: Initialize Repository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0" name="Google Shape;210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2"/>
          <p:cNvSpPr txBox="1"/>
          <p:nvPr/>
        </p:nvSpPr>
        <p:spPr>
          <a:xfrm>
            <a:off x="1809750" y="1940718"/>
            <a:ext cx="8572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add moves changes from the Working Directory to the Staging Area.</a:t>
            </a:r>
            <a:endParaRPr/>
          </a:p>
        </p:txBody>
      </p:sp>
      <p:sp>
        <p:nvSpPr>
          <p:cNvPr id="212" name="Google Shape;212;p22"/>
          <p:cNvSpPr txBox="1"/>
          <p:nvPr/>
        </p:nvSpPr>
        <p:spPr>
          <a:xfrm>
            <a:off x="2238375" y="2393156"/>
            <a:ext cx="8143875" cy="155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Create a File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First, we create a file. Git sees it as "untracked".</a:t>
            </a:r>
            <a:endParaRPr/>
          </a:p>
        </p:txBody>
      </p:sp>
      <p:sp>
        <p:nvSpPr>
          <p:cNvPr id="213" name="Google Shape;213;p22"/>
          <p:cNvSpPr txBox="1"/>
          <p:nvPr/>
        </p:nvSpPr>
        <p:spPr>
          <a:xfrm>
            <a:off x="2238375" y="4136231"/>
            <a:ext cx="8143875" cy="132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Stage the File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Now we "add" it to staging. Git now tracks this file.</a:t>
            </a:r>
            <a:endParaRPr/>
          </a:p>
        </p:txBody>
      </p:sp>
      <p:pic>
        <p:nvPicPr>
          <p:cNvPr id="214" name="Google Shape;214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44078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5" name="Google Shape;215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183856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16" name="Google Shape;216;p22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2: Stage Changes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 txBox="1"/>
          <p:nvPr/>
        </p:nvSpPr>
        <p:spPr>
          <a:xfrm>
            <a:off x="1809750" y="1919287"/>
            <a:ext cx="8572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commit takes everything in the Staging Area and saves it as a permanent snapshot in your Repository.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2238375" y="2643187"/>
            <a:ext cx="8143875" cy="15525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Commit the Snapshot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-m flag is for the "message". Make it descriptive!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2238375" y="4386262"/>
            <a:ext cx="814387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Check Status Again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Your working directory is now "clean".</a:t>
            </a:r>
            <a:endParaRPr/>
          </a:p>
        </p:txBody>
      </p:sp>
      <p:pic>
        <p:nvPicPr>
          <p:cNvPr id="225" name="Google Shape;225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6908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26" name="Google Shape;226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43388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23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3: Commit Changes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2" name="Google Shape;232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3" name="Google Shape;233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314450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4"/>
          <p:cNvSpPr txBox="1"/>
          <p:nvPr/>
        </p:nvSpPr>
        <p:spPr>
          <a:xfrm>
            <a:off x="581025" y="1314450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git log</a:t>
            </a:r>
            <a:endParaRPr/>
          </a:p>
        </p:txBody>
      </p:sp>
      <p:sp>
        <p:nvSpPr>
          <p:cNvPr id="235" name="Google Shape;235;p24"/>
          <p:cNvSpPr txBox="1"/>
          <p:nvPr/>
        </p:nvSpPr>
        <p:spPr>
          <a:xfrm>
            <a:off x="581025" y="1847850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command shows you the history of all your commits, starting with the newest one.</a:t>
            </a:r>
            <a:endParaRPr dirty="0"/>
          </a:p>
        </p:txBody>
      </p:sp>
      <p:sp>
        <p:nvSpPr>
          <p:cNvPr id="236" name="Google Shape;236;p24"/>
          <p:cNvSpPr txBox="1"/>
          <p:nvPr/>
        </p:nvSpPr>
        <p:spPr>
          <a:xfrm>
            <a:off x="581025" y="2571750"/>
            <a:ext cx="53244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Each commit has:</a:t>
            </a:r>
            <a:endParaRPr/>
          </a:p>
        </p:txBody>
      </p:sp>
      <p:sp>
        <p:nvSpPr>
          <p:cNvPr id="237" name="Google Shape;237;p24"/>
          <p:cNvSpPr txBox="1"/>
          <p:nvPr/>
        </p:nvSpPr>
        <p:spPr>
          <a:xfrm>
            <a:off x="581025" y="4567237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Useful Flags</a:t>
            </a:r>
            <a:endParaRPr/>
          </a:p>
        </p:txBody>
      </p:sp>
      <p:sp>
        <p:nvSpPr>
          <p:cNvPr id="238" name="Google Shape;238;p24"/>
          <p:cNvSpPr txBox="1"/>
          <p:nvPr/>
        </p:nvSpPr>
        <p:spPr>
          <a:xfrm>
            <a:off x="581025" y="5100637"/>
            <a:ext cx="53244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--</a:t>
            </a:r>
            <a:r>
              <a:rPr lang="en-US" sz="1425" b="0" i="0" u="none" strike="noStrike" cap="none" dirty="0" err="1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oneline</a:t>
            </a: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: Shows a compact view.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--graph: Draws a text-based graph of branches. </a:t>
            </a:r>
            <a:br>
              <a:rPr lang="en-US" sz="18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--all: Shows all branches, not just the current one.</a:t>
            </a:r>
            <a:endParaRPr dirty="0"/>
          </a:p>
        </p:txBody>
      </p:sp>
      <p:sp>
        <p:nvSpPr>
          <p:cNvPr id="239" name="Google Shape;239;p24"/>
          <p:cNvSpPr txBox="1"/>
          <p:nvPr/>
        </p:nvSpPr>
        <p:spPr>
          <a:xfrm>
            <a:off x="866775" y="3024187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unique ID (the "hash")</a:t>
            </a:r>
            <a:endParaRPr dirty="0"/>
          </a:p>
        </p:txBody>
      </p:sp>
      <p:sp>
        <p:nvSpPr>
          <p:cNvPr id="240" name="Google Shape;240;p24"/>
          <p:cNvSpPr txBox="1"/>
          <p:nvPr/>
        </p:nvSpPr>
        <p:spPr>
          <a:xfrm>
            <a:off x="866775" y="3409950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 dirty="0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Author (you!)</a:t>
            </a:r>
            <a:endParaRPr dirty="0"/>
          </a:p>
        </p:txBody>
      </p:sp>
      <p:sp>
        <p:nvSpPr>
          <p:cNvPr id="241" name="Google Shape;241;p24"/>
          <p:cNvSpPr txBox="1"/>
          <p:nvPr/>
        </p:nvSpPr>
        <p:spPr>
          <a:xfrm>
            <a:off x="866775" y="3795712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Date</a:t>
            </a:r>
            <a:endParaRPr/>
          </a:p>
        </p:txBody>
      </p:sp>
      <p:sp>
        <p:nvSpPr>
          <p:cNvPr id="242" name="Google Shape;242;p24"/>
          <p:cNvSpPr txBox="1"/>
          <p:nvPr/>
        </p:nvSpPr>
        <p:spPr>
          <a:xfrm>
            <a:off x="866775" y="4181475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commit message</a:t>
            </a:r>
            <a:endParaRPr/>
          </a:p>
        </p:txBody>
      </p:sp>
      <p:pic>
        <p:nvPicPr>
          <p:cNvPr id="243" name="Google Shape;243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323975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44" name="Google Shape;244;p24"/>
          <p:cNvSpPr txBox="1"/>
          <p:nvPr/>
        </p:nvSpPr>
        <p:spPr>
          <a:xfrm>
            <a:off x="628650" y="3024187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628650" y="3409950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628650" y="3795712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247" name="Google Shape;247;p24"/>
          <p:cNvSpPr txBox="1"/>
          <p:nvPr/>
        </p:nvSpPr>
        <p:spPr>
          <a:xfrm>
            <a:off x="628650" y="4181475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248" name="Google Shape;248;p24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Step 4: Check Your History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p25"/>
          <p:cNvSpPr txBox="1"/>
          <p:nvPr/>
        </p:nvSpPr>
        <p:spPr>
          <a:xfrm>
            <a:off x="1809750" y="1543050"/>
            <a:ext cx="90011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Your Mission:</a:t>
            </a:r>
            <a:endParaRPr/>
          </a:p>
        </p:txBody>
      </p:sp>
      <p:sp>
        <p:nvSpPr>
          <p:cNvPr id="255" name="Google Shape;255;p25"/>
          <p:cNvSpPr txBox="1"/>
          <p:nvPr/>
        </p:nvSpPr>
        <p:spPr>
          <a:xfrm>
            <a:off x="2238375" y="2038350"/>
            <a:ext cx="81438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Install &amp; Configure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1. Make sure Git is installed (git --version).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2. Configure your user.name and user.email.</a:t>
            </a:r>
            <a:endParaRPr/>
          </a:p>
        </p:txBody>
      </p:sp>
      <p:sp>
        <p:nvSpPr>
          <p:cNvPr id="256" name="Google Shape;256;p25"/>
          <p:cNvSpPr txBox="1"/>
          <p:nvPr/>
        </p:nvSpPr>
        <p:spPr>
          <a:xfrm>
            <a:off x="2238375" y="3043237"/>
            <a:ext cx="8143875" cy="19002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Make Your First Commits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1. Create a new folder (e.g., git-practice) and cd into it.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2. Run git init.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3. Create a file README.md and add some text.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4. </a:t>
            </a: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Commit 1: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git add README.md and git commit -m "Add README".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5. Create another file INFO.txt.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6. </a:t>
            </a: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Commit 2: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git add . and git commit -m "Add INFO".</a:t>
            </a:r>
            <a:endParaRPr/>
          </a:p>
        </p:txBody>
      </p:sp>
      <p:sp>
        <p:nvSpPr>
          <p:cNvPr id="257" name="Google Shape;257;p25"/>
          <p:cNvSpPr txBox="1"/>
          <p:nvPr/>
        </p:nvSpPr>
        <p:spPr>
          <a:xfrm>
            <a:off x="2238375" y="5133975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Check Your Work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1. Run git log --oneline. You should see your two commits!</a:t>
            </a:r>
            <a:endParaRPr/>
          </a:p>
        </p:txBody>
      </p:sp>
      <p:pic>
        <p:nvPicPr>
          <p:cNvPr id="258" name="Google Shape;258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0859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0908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518160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5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1 Workshop (15 min)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6"/>
          <p:cNvSpPr/>
          <p:nvPr/>
        </p:nvSpPr>
        <p:spPr>
          <a:xfrm>
            <a:off x="5619750" y="279558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8" name="Google Shape;268;p26"/>
          <p:cNvSpPr txBox="1"/>
          <p:nvPr/>
        </p:nvSpPr>
        <p:spPr>
          <a:xfrm>
            <a:off x="2335530" y="3128962"/>
            <a:ext cx="752094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2: Branching &amp; Merging</a:t>
            </a:r>
            <a:endParaRPr/>
          </a:p>
        </p:txBody>
      </p:sp>
      <p:sp>
        <p:nvSpPr>
          <p:cNvPr id="269" name="Google Shape;269;p26"/>
          <p:cNvSpPr txBox="1"/>
          <p:nvPr/>
        </p:nvSpPr>
        <p:spPr>
          <a:xfrm>
            <a:off x="3805237" y="4005262"/>
            <a:ext cx="45815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Work in Parallel and Integrate Changes Safely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Google Shape;274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7"/>
          <p:cNvSpPr txBox="1"/>
          <p:nvPr/>
        </p:nvSpPr>
        <p:spPr>
          <a:xfrm>
            <a:off x="2238375" y="2319337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is a Branch?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276" name="Google Shape;276;p27"/>
          <p:cNvSpPr txBox="1"/>
          <p:nvPr/>
        </p:nvSpPr>
        <p:spPr>
          <a:xfrm>
            <a:off x="2238375" y="2781300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Branching Commands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277" name="Google Shape;277;p27"/>
          <p:cNvSpPr txBox="1"/>
          <p:nvPr/>
        </p:nvSpPr>
        <p:spPr>
          <a:xfrm>
            <a:off x="2238375" y="3243262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Merging Changes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278" name="Google Shape;278;p27"/>
          <p:cNvSpPr txBox="1"/>
          <p:nvPr/>
        </p:nvSpPr>
        <p:spPr>
          <a:xfrm>
            <a:off x="2238375" y="3705225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Merge Conflicts!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(15 min)</a:t>
            </a:r>
            <a:endParaRPr/>
          </a:p>
        </p:txBody>
      </p:sp>
      <p:sp>
        <p:nvSpPr>
          <p:cNvPr id="279" name="Google Shape;279;p27"/>
          <p:cNvSpPr txBox="1"/>
          <p:nvPr/>
        </p:nvSpPr>
        <p:spPr>
          <a:xfrm>
            <a:off x="2238375" y="4167187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Undoing Changes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(5 min)</a:t>
            </a:r>
            <a:endParaRPr/>
          </a:p>
        </p:txBody>
      </p:sp>
      <p:sp>
        <p:nvSpPr>
          <p:cNvPr id="280" name="Google Shape;280;p27"/>
          <p:cNvSpPr txBox="1"/>
          <p:nvPr/>
        </p:nvSpPr>
        <p:spPr>
          <a:xfrm>
            <a:off x="2238375" y="4629150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Workshop &amp; Q&amp;A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pic>
        <p:nvPicPr>
          <p:cNvPr id="281" name="Google Shape;281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3669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8289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2908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2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37528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27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2148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6" name="Google Shape;286;p27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09750" y="46767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287" name="Google Shape;287;p27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2 Agenda (1 Hour)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2" name="Google Shape;292;p2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3" name="Google Shape;293;p2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00225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p28"/>
          <p:cNvSpPr txBox="1"/>
          <p:nvPr/>
        </p:nvSpPr>
        <p:spPr>
          <a:xfrm>
            <a:off x="581025" y="1800225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A Lightweight Pointer</a:t>
            </a:r>
            <a:endParaRPr/>
          </a:p>
        </p:txBody>
      </p:sp>
      <p:sp>
        <p:nvSpPr>
          <p:cNvPr id="295" name="Google Shape;295;p28"/>
          <p:cNvSpPr txBox="1"/>
          <p:nvPr/>
        </p:nvSpPr>
        <p:spPr>
          <a:xfrm>
            <a:off x="581025" y="2333625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branch is simply a movable pointer to a specific commit. It's not a copy of your project; it's just a label.</a:t>
            </a:r>
            <a:endParaRPr/>
          </a:p>
        </p:txBody>
      </p:sp>
      <p:sp>
        <p:nvSpPr>
          <p:cNvPr id="296" name="Google Shape;296;p28"/>
          <p:cNvSpPr txBox="1"/>
          <p:nvPr/>
        </p:nvSpPr>
        <p:spPr>
          <a:xfrm>
            <a:off x="581025" y="3057525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main branch is just a branch. It's not special, other than by convention it's the "source of truth".</a:t>
            </a:r>
            <a:endParaRPr/>
          </a:p>
        </p:txBody>
      </p:sp>
      <p:sp>
        <p:nvSpPr>
          <p:cNvPr id="297" name="Google Shape;297;p28"/>
          <p:cNvSpPr txBox="1"/>
          <p:nvPr/>
        </p:nvSpPr>
        <p:spPr>
          <a:xfrm>
            <a:off x="581025" y="3781425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What is HEAD?</a:t>
            </a:r>
            <a:endParaRPr/>
          </a:p>
        </p:txBody>
      </p:sp>
      <p:sp>
        <p:nvSpPr>
          <p:cNvPr id="298" name="Google Shape;298;p28"/>
          <p:cNvSpPr txBox="1"/>
          <p:nvPr/>
        </p:nvSpPr>
        <p:spPr>
          <a:xfrm>
            <a:off x="581025" y="4314825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HEAD is another pointer. It points to the branch you are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currently on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When you checkout a branch, you are moving HEAD.</a:t>
            </a:r>
            <a:endParaRPr/>
          </a:p>
        </p:txBody>
      </p:sp>
      <p:pic>
        <p:nvPicPr>
          <p:cNvPr id="299" name="Google Shape;299;p2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809750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28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is a Branch?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5" name="Google Shape;305;p2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06" name="Google Shape;306;p2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00225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7" name="Google Shape;307;p29"/>
          <p:cNvSpPr txBox="1"/>
          <p:nvPr/>
        </p:nvSpPr>
        <p:spPr>
          <a:xfrm>
            <a:off x="581025" y="1800225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Isolate Your Work</a:t>
            </a:r>
            <a:endParaRPr/>
          </a:p>
        </p:txBody>
      </p:sp>
      <p:sp>
        <p:nvSpPr>
          <p:cNvPr id="308" name="Google Shape;308;p29"/>
          <p:cNvSpPr txBox="1"/>
          <p:nvPr/>
        </p:nvSpPr>
        <p:spPr>
          <a:xfrm>
            <a:off x="581025" y="2333625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Branches let you work on a new feature (e.g., feature/login) or a bug fix (e.g., bug/fix-typo) in a safe, isolated environment.</a:t>
            </a:r>
            <a:endParaRPr/>
          </a:p>
        </p:txBody>
      </p:sp>
      <p:sp>
        <p:nvSpPr>
          <p:cNvPr id="309" name="Google Shape;309;p29"/>
          <p:cNvSpPr txBox="1"/>
          <p:nvPr/>
        </p:nvSpPr>
        <p:spPr>
          <a:xfrm>
            <a:off x="866775" y="3057525"/>
            <a:ext cx="50387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If you make a mistake, you just delete the branch. The main branch is never harmed.</a:t>
            </a:r>
            <a:endParaRPr/>
          </a:p>
        </p:txBody>
      </p:sp>
      <p:sp>
        <p:nvSpPr>
          <p:cNvPr id="310" name="Google Shape;310;p29"/>
          <p:cNvSpPr txBox="1"/>
          <p:nvPr/>
        </p:nvSpPr>
        <p:spPr>
          <a:xfrm>
            <a:off x="866775" y="3714750"/>
            <a:ext cx="50387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 can work on 5 different features at once by switching branches.</a:t>
            </a:r>
            <a:endParaRPr/>
          </a:p>
        </p:txBody>
      </p:sp>
      <p:sp>
        <p:nvSpPr>
          <p:cNvPr id="311" name="Google Shape;311;p29"/>
          <p:cNvSpPr txBox="1"/>
          <p:nvPr/>
        </p:nvSpPr>
        <p:spPr>
          <a:xfrm>
            <a:off x="866775" y="4371975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It keeps the main branch clean and stable.</a:t>
            </a:r>
            <a:endParaRPr/>
          </a:p>
        </p:txBody>
      </p:sp>
      <p:pic>
        <p:nvPicPr>
          <p:cNvPr id="312" name="Google Shape;312;p2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809750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29"/>
          <p:cNvSpPr txBox="1"/>
          <p:nvPr/>
        </p:nvSpPr>
        <p:spPr>
          <a:xfrm>
            <a:off x="628650" y="3057525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314" name="Google Shape;314;p29"/>
          <p:cNvSpPr txBox="1"/>
          <p:nvPr/>
        </p:nvSpPr>
        <p:spPr>
          <a:xfrm>
            <a:off x="628650" y="3714750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315" name="Google Shape;315;p29"/>
          <p:cNvSpPr txBox="1"/>
          <p:nvPr/>
        </p:nvSpPr>
        <p:spPr>
          <a:xfrm>
            <a:off x="628650" y="4371975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316" name="Google Shape;316;p29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Why Branch? (The Workflow)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1" name="Google Shape;321;p3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3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57412"/>
            <a:ext cx="5324475" cy="3095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3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157412"/>
            <a:ext cx="5324475" cy="3095625"/>
          </a:xfrm>
          <a:prstGeom prst="rect">
            <a:avLst/>
          </a:prstGeom>
          <a:noFill/>
          <a:ln>
            <a:noFill/>
          </a:ln>
        </p:spPr>
      </p:pic>
      <p:sp>
        <p:nvSpPr>
          <p:cNvPr id="324" name="Google Shape;324;p30"/>
          <p:cNvSpPr txBox="1"/>
          <p:nvPr/>
        </p:nvSpPr>
        <p:spPr>
          <a:xfrm>
            <a:off x="876300" y="2452687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Create / List</a:t>
            </a:r>
            <a:endParaRPr/>
          </a:p>
        </p:txBody>
      </p:sp>
      <p:sp>
        <p:nvSpPr>
          <p:cNvPr id="325" name="Google Shape;325;p30"/>
          <p:cNvSpPr txBox="1"/>
          <p:nvPr/>
        </p:nvSpPr>
        <p:spPr>
          <a:xfrm>
            <a:off x="876300" y="2900362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List all branches: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(* shows current one)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branch</a:t>
            </a:r>
            <a:endParaRPr/>
          </a:p>
        </p:txBody>
      </p:sp>
      <p:sp>
        <p:nvSpPr>
          <p:cNvPr id="326" name="Google Shape;326;p30"/>
          <p:cNvSpPr txBox="1"/>
          <p:nvPr/>
        </p:nvSpPr>
        <p:spPr>
          <a:xfrm>
            <a:off x="876300" y="3586162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Create a new branch: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branch feature/add-bio</a:t>
            </a:r>
            <a:endParaRPr/>
          </a:p>
        </p:txBody>
      </p:sp>
      <p:sp>
        <p:nvSpPr>
          <p:cNvPr id="327" name="Google Shape;327;p30"/>
          <p:cNvSpPr txBox="1"/>
          <p:nvPr/>
        </p:nvSpPr>
        <p:spPr>
          <a:xfrm>
            <a:off x="876300" y="4271962"/>
            <a:ext cx="4733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(This creates the branch, but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does not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switch you to it.)</a:t>
            </a:r>
            <a:endParaRPr/>
          </a:p>
        </p:txBody>
      </p:sp>
      <p:sp>
        <p:nvSpPr>
          <p:cNvPr id="328" name="Google Shape;328;p30"/>
          <p:cNvSpPr txBox="1"/>
          <p:nvPr/>
        </p:nvSpPr>
        <p:spPr>
          <a:xfrm>
            <a:off x="6581775" y="2452687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Switch</a:t>
            </a:r>
            <a:endParaRPr/>
          </a:p>
        </p:txBody>
      </p:sp>
      <p:sp>
        <p:nvSpPr>
          <p:cNvPr id="329" name="Google Shape;329;p30"/>
          <p:cNvSpPr txBox="1"/>
          <p:nvPr/>
        </p:nvSpPr>
        <p:spPr>
          <a:xfrm>
            <a:off x="6581775" y="2900362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Switch to another branch: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checkout feature/add-bio</a:t>
            </a:r>
            <a:endParaRPr/>
          </a:p>
        </p:txBody>
      </p:sp>
      <p:sp>
        <p:nvSpPr>
          <p:cNvPr id="330" name="Google Shape;330;p30"/>
          <p:cNvSpPr txBox="1"/>
          <p:nvPr/>
        </p:nvSpPr>
        <p:spPr>
          <a:xfrm>
            <a:off x="6581775" y="3586162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(Newer command):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switch feature/add-bio</a:t>
            </a:r>
            <a:endParaRPr/>
          </a:p>
        </p:txBody>
      </p:sp>
      <p:sp>
        <p:nvSpPr>
          <p:cNvPr id="331" name="Google Shape;331;p30"/>
          <p:cNvSpPr txBox="1"/>
          <p:nvPr/>
        </p:nvSpPr>
        <p:spPr>
          <a:xfrm>
            <a:off x="6581775" y="4271962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Create AND Switch (Shortcut):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checkout -b new-feature</a:t>
            </a:r>
            <a:endParaRPr/>
          </a:p>
        </p:txBody>
      </p:sp>
      <p:sp>
        <p:nvSpPr>
          <p:cNvPr id="332" name="Google Shape;332;p30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Core Branching Commands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7" name="Google Shape;337;p3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38" name="Google Shape;338;p3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00225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p31"/>
          <p:cNvSpPr txBox="1"/>
          <p:nvPr/>
        </p:nvSpPr>
        <p:spPr>
          <a:xfrm>
            <a:off x="581025" y="1800225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The "Happy Path"</a:t>
            </a:r>
            <a:endParaRPr/>
          </a:p>
        </p:txBody>
      </p:sp>
      <p:sp>
        <p:nvSpPr>
          <p:cNvPr id="340" name="Google Shape;340;p31"/>
          <p:cNvSpPr txBox="1"/>
          <p:nvPr/>
        </p:nvSpPr>
        <p:spPr>
          <a:xfrm>
            <a:off x="581025" y="2333625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happens when the main branch has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no new commits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since you created your feature branch.</a:t>
            </a:r>
            <a:endParaRPr/>
          </a:p>
        </p:txBody>
      </p:sp>
      <p:sp>
        <p:nvSpPr>
          <p:cNvPr id="341" name="Google Shape;341;p31"/>
          <p:cNvSpPr txBox="1"/>
          <p:nvPr/>
        </p:nvSpPr>
        <p:spPr>
          <a:xfrm>
            <a:off x="581025" y="3057525"/>
            <a:ext cx="53244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sees that your feature branch is just "ahead" of main, so it simply moves the main pointer forward to match your branch. No new "merge commit" is created.</a:t>
            </a:r>
            <a:endParaRPr/>
          </a:p>
        </p:txBody>
      </p:sp>
      <p:sp>
        <p:nvSpPr>
          <p:cNvPr id="342" name="Google Shape;342;p31"/>
          <p:cNvSpPr txBox="1"/>
          <p:nvPr/>
        </p:nvSpPr>
        <p:spPr>
          <a:xfrm>
            <a:off x="581025" y="4052887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Commands:</a:t>
            </a:r>
            <a:endParaRPr/>
          </a:p>
        </p:txBody>
      </p:sp>
      <p:sp>
        <p:nvSpPr>
          <p:cNvPr id="343" name="Google Shape;343;p31"/>
          <p:cNvSpPr txBox="1"/>
          <p:nvPr/>
        </p:nvSpPr>
        <p:spPr>
          <a:xfrm>
            <a:off x="581025" y="4586287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checkout main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merge feature/add-bio</a:t>
            </a:r>
            <a:endParaRPr/>
          </a:p>
        </p:txBody>
      </p:sp>
      <p:pic>
        <p:nvPicPr>
          <p:cNvPr id="344" name="Google Shape;344;p3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809750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45" name="Google Shape;345;p31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Merging: The "Fast-Forward"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0" name="Google Shape;350;p3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51" name="Google Shape;351;p3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00225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352" name="Google Shape;352;p32"/>
          <p:cNvSpPr txBox="1"/>
          <p:nvPr/>
        </p:nvSpPr>
        <p:spPr>
          <a:xfrm>
            <a:off x="581025" y="1800225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The "Real-World" Merge</a:t>
            </a:r>
            <a:endParaRPr/>
          </a:p>
        </p:txBody>
      </p:sp>
      <p:sp>
        <p:nvSpPr>
          <p:cNvPr id="353" name="Google Shape;353;p32"/>
          <p:cNvSpPr txBox="1"/>
          <p:nvPr/>
        </p:nvSpPr>
        <p:spPr>
          <a:xfrm>
            <a:off x="581025" y="2333625"/>
            <a:ext cx="53244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happens when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both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your main branch AND your feature branch have new commits. (e.g., a teammate merged a hotfix to main).</a:t>
            </a:r>
            <a:endParaRPr/>
          </a:p>
        </p:txBody>
      </p:sp>
      <p:sp>
        <p:nvSpPr>
          <p:cNvPr id="354" name="Google Shape;354;p32"/>
          <p:cNvSpPr txBox="1"/>
          <p:nvPr/>
        </p:nvSpPr>
        <p:spPr>
          <a:xfrm>
            <a:off x="581025" y="3328987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can't just move the pointer. It has to combine the two histories and create a new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merge commit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that has two parents.</a:t>
            </a:r>
            <a:endParaRPr/>
          </a:p>
        </p:txBody>
      </p:sp>
      <p:sp>
        <p:nvSpPr>
          <p:cNvPr id="355" name="Google Shape;355;p32"/>
          <p:cNvSpPr txBox="1"/>
          <p:nvPr/>
        </p:nvSpPr>
        <p:spPr>
          <a:xfrm>
            <a:off x="581025" y="4052887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Commands:</a:t>
            </a:r>
            <a:endParaRPr/>
          </a:p>
        </p:txBody>
      </p:sp>
      <p:sp>
        <p:nvSpPr>
          <p:cNvPr id="356" name="Google Shape;356;p32"/>
          <p:cNvSpPr txBox="1"/>
          <p:nvPr/>
        </p:nvSpPr>
        <p:spPr>
          <a:xfrm>
            <a:off x="581025" y="4586287"/>
            <a:ext cx="53244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checkout main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merge feature/add-bio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(This may open an editor to type a merge message)</a:t>
            </a:r>
            <a:endParaRPr/>
          </a:p>
        </p:txBody>
      </p:sp>
      <p:pic>
        <p:nvPicPr>
          <p:cNvPr id="357" name="Google Shape;357;p3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809750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2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Merging: The 3-Way Merge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Google Shape;363;p3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4" name="Google Shape;364;p3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943100"/>
            <a:ext cx="3486150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5" name="Google Shape;365;p3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1943100"/>
            <a:ext cx="3486150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6" name="Google Shape;366;p3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1943100"/>
            <a:ext cx="3486150" cy="3524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7" name="Google Shape;367;p3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648200" y="3990975"/>
            <a:ext cx="2895600" cy="1181100"/>
          </a:xfrm>
          <a:prstGeom prst="rect">
            <a:avLst/>
          </a:prstGeom>
          <a:noFill/>
          <a:ln>
            <a:noFill/>
          </a:ln>
        </p:spPr>
      </p:pic>
      <p:sp>
        <p:nvSpPr>
          <p:cNvPr id="368" name="Google Shape;368;p33"/>
          <p:cNvSpPr txBox="1"/>
          <p:nvPr/>
        </p:nvSpPr>
        <p:spPr>
          <a:xfrm>
            <a:off x="1809035" y="2828925"/>
            <a:ext cx="103012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is it?</a:t>
            </a:r>
            <a:endParaRPr/>
          </a:p>
        </p:txBody>
      </p:sp>
      <p:sp>
        <p:nvSpPr>
          <p:cNvPr id="369" name="Google Shape;369;p33"/>
          <p:cNvSpPr txBox="1"/>
          <p:nvPr/>
        </p:nvSpPr>
        <p:spPr>
          <a:xfrm>
            <a:off x="876300" y="3381375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happens when Git can't automatically merge. It means you and another commit (e.g., on main) edited the </a:t>
            </a:r>
            <a:r>
              <a:rPr lang="en-US" sz="12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same line(s)</a:t>
            </a: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 the </a:t>
            </a:r>
            <a:r>
              <a:rPr lang="en-US" sz="12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same file</a:t>
            </a: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and Git doesn't know which change to keep.</a:t>
            </a:r>
            <a:endParaRPr/>
          </a:p>
        </p:txBody>
      </p:sp>
      <p:sp>
        <p:nvSpPr>
          <p:cNvPr id="370" name="Google Shape;370;p33"/>
          <p:cNvSpPr txBox="1"/>
          <p:nvPr/>
        </p:nvSpPr>
        <p:spPr>
          <a:xfrm>
            <a:off x="5225891" y="2828925"/>
            <a:ext cx="174021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it Looks Like</a:t>
            </a:r>
            <a:endParaRPr/>
          </a:p>
        </p:txBody>
      </p:sp>
      <p:sp>
        <p:nvSpPr>
          <p:cNvPr id="371" name="Google Shape;371;p33"/>
          <p:cNvSpPr txBox="1"/>
          <p:nvPr/>
        </p:nvSpPr>
        <p:spPr>
          <a:xfrm>
            <a:off x="4648200" y="3381375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stops and adds "conflict markers" to the file:</a:t>
            </a:r>
            <a:endParaRPr/>
          </a:p>
        </p:txBody>
      </p:sp>
      <p:sp>
        <p:nvSpPr>
          <p:cNvPr id="372" name="Google Shape;372;p33"/>
          <p:cNvSpPr txBox="1"/>
          <p:nvPr/>
        </p:nvSpPr>
        <p:spPr>
          <a:xfrm>
            <a:off x="9267825" y="2828925"/>
            <a:ext cx="12001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How to Fix It</a:t>
            </a:r>
            <a:endParaRPr/>
          </a:p>
        </p:txBody>
      </p:sp>
      <p:sp>
        <p:nvSpPr>
          <p:cNvPr id="373" name="Google Shape;373;p33"/>
          <p:cNvSpPr txBox="1"/>
          <p:nvPr/>
        </p:nvSpPr>
        <p:spPr>
          <a:xfrm>
            <a:off x="8420100" y="3381375"/>
            <a:ext cx="28956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Open the file.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2. Delete the markers (&lt;&lt;&lt;, ===, &gt;&gt;&gt;).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3. Manually edit the file to be correct (keep one, keep both, write new).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4. git add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5. git commit (no -m needed)</a:t>
            </a:r>
            <a:endParaRPr/>
          </a:p>
        </p:txBody>
      </p:sp>
      <p:pic>
        <p:nvPicPr>
          <p:cNvPr id="374" name="Google Shape;374;p3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133600" y="225742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5" name="Google Shape;375;p3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857875" y="225742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76" name="Google Shape;376;p33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9677400" y="225742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377" name="Google Shape;377;p33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DREADED Merge Conflict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2" name="Google Shape;382;p3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3" name="Google Shape;383;p34"/>
          <p:cNvSpPr txBox="1"/>
          <p:nvPr/>
        </p:nvSpPr>
        <p:spPr>
          <a:xfrm>
            <a:off x="2238375" y="1662112"/>
            <a:ext cx="814387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Discard Working Directory Changes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(You edited a file but haven't staged it. Throws away your edits.)</a:t>
            </a:r>
            <a:endParaRPr/>
          </a:p>
        </p:txBody>
      </p:sp>
      <p:sp>
        <p:nvSpPr>
          <p:cNvPr id="384" name="Google Shape;384;p34"/>
          <p:cNvSpPr txBox="1"/>
          <p:nvPr/>
        </p:nvSpPr>
        <p:spPr>
          <a:xfrm>
            <a:off x="2238375" y="2947987"/>
            <a:ext cx="814387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Unstage a File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(You ran git add but want to remove it from staging.)</a:t>
            </a:r>
            <a:endParaRPr/>
          </a:p>
        </p:txBody>
      </p:sp>
      <p:sp>
        <p:nvSpPr>
          <p:cNvPr id="385" name="Google Shape;385;p34"/>
          <p:cNvSpPr txBox="1"/>
          <p:nvPr/>
        </p:nvSpPr>
        <p:spPr>
          <a:xfrm>
            <a:off x="2238375" y="4233862"/>
            <a:ext cx="8143875" cy="132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Fix Your Last Commit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(Forgot a file? Typo in the message? No problem.)</a:t>
            </a:r>
            <a:endParaRPr/>
          </a:p>
        </p:txBody>
      </p:sp>
      <p:pic>
        <p:nvPicPr>
          <p:cNvPr id="386" name="Google Shape;386;p3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7097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7" name="Google Shape;387;p3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9956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28148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89" name="Google Shape;389;p34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Quick Tip: Undoing Changes</a:t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Google Shape;394;p3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95" name="Google Shape;395;p35"/>
          <p:cNvSpPr txBox="1"/>
          <p:nvPr/>
        </p:nvSpPr>
        <p:spPr>
          <a:xfrm>
            <a:off x="1809750" y="2283618"/>
            <a:ext cx="8572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After your feature is merged into main, you can delete the branch to keep your repository tidy.</a:t>
            </a:r>
            <a:endParaRPr/>
          </a:p>
        </p:txBody>
      </p:sp>
      <p:sp>
        <p:nvSpPr>
          <p:cNvPr id="396" name="Google Shape;396;p35"/>
          <p:cNvSpPr txBox="1"/>
          <p:nvPr/>
        </p:nvSpPr>
        <p:spPr>
          <a:xfrm>
            <a:off x="2238375" y="2736056"/>
            <a:ext cx="814387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Safe Delete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This is the normal way. It won't let you delete a branch that *hasn't* been merged yet.</a:t>
            </a:r>
            <a:endParaRPr/>
          </a:p>
        </p:txBody>
      </p:sp>
      <p:sp>
        <p:nvSpPr>
          <p:cNvPr id="397" name="Google Shape;397;p35"/>
          <p:cNvSpPr txBox="1"/>
          <p:nvPr/>
        </p:nvSpPr>
        <p:spPr>
          <a:xfrm>
            <a:off x="2238375" y="4021931"/>
            <a:ext cx="814387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Force Delete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Use this if you made a mistake and want to abandon a branch and all its commits.</a:t>
            </a:r>
            <a:endParaRPr/>
          </a:p>
        </p:txBody>
      </p:sp>
      <p:pic>
        <p:nvPicPr>
          <p:cNvPr id="398" name="Google Shape;398;p3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4069556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35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Quick Tip: Cleaning Up Branches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4" name="Google Shape;404;p3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05" name="Google Shape;405;p36"/>
          <p:cNvSpPr txBox="1"/>
          <p:nvPr/>
        </p:nvSpPr>
        <p:spPr>
          <a:xfrm>
            <a:off x="1809750" y="1407318"/>
            <a:ext cx="90011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Your Mission:</a:t>
            </a:r>
            <a:endParaRPr/>
          </a:p>
        </p:txBody>
      </p:sp>
      <p:sp>
        <p:nvSpPr>
          <p:cNvPr id="406" name="Google Shape;406;p36"/>
          <p:cNvSpPr txBox="1"/>
          <p:nvPr/>
        </p:nvSpPr>
        <p:spPr>
          <a:xfrm>
            <a:off x="2238375" y="1902618"/>
            <a:ext cx="8143875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Branch It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1. In your git-practice repo, create and switch to a new branch: git checkout -b feature/add-bio.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2. Create a bio.txt file and add your name.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3. git add . and git commit -m "Add bio".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2238375" y="3450431"/>
            <a:ext cx="8143875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Create a 3-Way Merge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1. Switch back to main: git checkout main.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2. Edit your README.md file. Add "My Git Practice Project".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3. git add . and git commit -m "Update README on main".</a:t>
            </a:r>
            <a:endParaRPr/>
          </a:p>
        </p:txBody>
      </p:sp>
      <p:sp>
        <p:nvSpPr>
          <p:cNvPr id="408" name="Google Shape;408;p36"/>
          <p:cNvSpPr txBox="1"/>
          <p:nvPr/>
        </p:nvSpPr>
        <p:spPr>
          <a:xfrm>
            <a:off x="2238375" y="4726781"/>
            <a:ext cx="8143875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Merge It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1. Merge your feature branch: git merge feature/add-bio.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2. A text editor will open for the merge commit message. Just save and quit (:wq in Vim).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3. Run git log --oneline --graph. See the history diverge and come back together!</a:t>
            </a:r>
            <a:endParaRPr/>
          </a:p>
        </p:txBody>
      </p:sp>
      <p:pic>
        <p:nvPicPr>
          <p:cNvPr id="409" name="Google Shape;409;p3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95024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0" name="Google Shape;410;p3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498056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1" name="Google Shape;411;p3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774406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12" name="Google Shape;412;p36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2 Workshop (10 min)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7" name="Google Shape;417;p3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8" name="Google Shape;418;p37"/>
          <p:cNvSpPr txBox="1"/>
          <p:nvPr/>
        </p:nvSpPr>
        <p:spPr>
          <a:xfrm>
            <a:off x="305276" y="2876550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2: Questions?</a:t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3" name="Google Shape;423;p3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24" name="Google Shape;424;p38"/>
          <p:cNvSpPr/>
          <p:nvPr/>
        </p:nvSpPr>
        <p:spPr>
          <a:xfrm>
            <a:off x="5619750" y="279558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5" name="Google Shape;425;p38"/>
          <p:cNvSpPr txBox="1"/>
          <p:nvPr/>
        </p:nvSpPr>
        <p:spPr>
          <a:xfrm>
            <a:off x="3290649" y="3128962"/>
            <a:ext cx="561070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3: Going Remote</a:t>
            </a:r>
            <a:endParaRPr/>
          </a:p>
        </p:txBody>
      </p:sp>
      <p:sp>
        <p:nvSpPr>
          <p:cNvPr id="426" name="Google Shape;426;p38"/>
          <p:cNvSpPr txBox="1"/>
          <p:nvPr/>
        </p:nvSpPr>
        <p:spPr>
          <a:xfrm>
            <a:off x="3933825" y="4005262"/>
            <a:ext cx="432435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Connecting Your Local Repository to GitHub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Google Shape;431;p3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39"/>
          <p:cNvSpPr txBox="1"/>
          <p:nvPr/>
        </p:nvSpPr>
        <p:spPr>
          <a:xfrm>
            <a:off x="2238375" y="2319337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Git vs. GitHub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(5 min)</a:t>
            </a:r>
            <a:endParaRPr/>
          </a:p>
        </p:txBody>
      </p:sp>
      <p:sp>
        <p:nvSpPr>
          <p:cNvPr id="433" name="Google Shape;433;p39"/>
          <p:cNvSpPr txBox="1"/>
          <p:nvPr/>
        </p:nvSpPr>
        <p:spPr>
          <a:xfrm>
            <a:off x="2238375" y="2781300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Authentication (SSH vs. HTTPS)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434" name="Google Shape;434;p39"/>
          <p:cNvSpPr txBox="1"/>
          <p:nvPr/>
        </p:nvSpPr>
        <p:spPr>
          <a:xfrm>
            <a:off x="2238375" y="3243262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git clone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(5 min)</a:t>
            </a:r>
            <a:endParaRPr/>
          </a:p>
        </p:txBody>
      </p:sp>
      <p:sp>
        <p:nvSpPr>
          <p:cNvPr id="435" name="Google Shape;435;p39"/>
          <p:cNvSpPr txBox="1"/>
          <p:nvPr/>
        </p:nvSpPr>
        <p:spPr>
          <a:xfrm>
            <a:off x="2238375" y="3705225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git remote &amp; git push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(15 min)</a:t>
            </a:r>
            <a:endParaRPr/>
          </a:p>
        </p:txBody>
      </p:sp>
      <p:sp>
        <p:nvSpPr>
          <p:cNvPr id="436" name="Google Shape;436;p39"/>
          <p:cNvSpPr txBox="1"/>
          <p:nvPr/>
        </p:nvSpPr>
        <p:spPr>
          <a:xfrm>
            <a:off x="2238375" y="4167187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git pull &amp; git fetch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437" name="Google Shape;437;p39"/>
          <p:cNvSpPr txBox="1"/>
          <p:nvPr/>
        </p:nvSpPr>
        <p:spPr>
          <a:xfrm>
            <a:off x="2238375" y="4629150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Workshop &amp; Q&amp;A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(15 min)</a:t>
            </a:r>
            <a:endParaRPr/>
          </a:p>
        </p:txBody>
      </p:sp>
      <p:pic>
        <p:nvPicPr>
          <p:cNvPr id="438" name="Google Shape;438;p3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3669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9" name="Google Shape;439;p3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8289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0" name="Google Shape;440;p3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2908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1" name="Google Shape;441;p3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37528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2" name="Google Shape;442;p39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2148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p39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09750" y="46767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444" name="Google Shape;444;p39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3 Agenda (1 Hour)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9" name="Google Shape;449;p4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p4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14512" y="2276475"/>
            <a:ext cx="2857500" cy="2857500"/>
          </a:xfrm>
          <a:prstGeom prst="rect">
            <a:avLst/>
          </a:prstGeom>
          <a:noFill/>
          <a:ln>
            <a:noFill/>
          </a:ln>
        </p:spPr>
      </p:pic>
      <p:sp>
        <p:nvSpPr>
          <p:cNvPr id="451" name="Google Shape;451;p40"/>
          <p:cNvSpPr txBox="1"/>
          <p:nvPr/>
        </p:nvSpPr>
        <p:spPr>
          <a:xfrm>
            <a:off x="6286500" y="1514475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Git is the Tool</a:t>
            </a:r>
            <a:endParaRPr/>
          </a:p>
        </p:txBody>
      </p:sp>
      <p:sp>
        <p:nvSpPr>
          <p:cNvPr id="452" name="Google Shape;452;p40"/>
          <p:cNvSpPr txBox="1"/>
          <p:nvPr/>
        </p:nvSpPr>
        <p:spPr>
          <a:xfrm>
            <a:off x="6286500" y="2057400"/>
            <a:ext cx="53244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is the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command-line tool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that runs on your computer. It manages your history (git commit, git branch). It works 100% offline.</a:t>
            </a:r>
            <a:endParaRPr/>
          </a:p>
        </p:txBody>
      </p:sp>
      <p:sp>
        <p:nvSpPr>
          <p:cNvPr id="453" name="Google Shape;453;p40"/>
          <p:cNvSpPr txBox="1"/>
          <p:nvPr/>
        </p:nvSpPr>
        <p:spPr>
          <a:xfrm>
            <a:off x="6286500" y="3105150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GitHub is the Service</a:t>
            </a:r>
            <a:endParaRPr/>
          </a:p>
        </p:txBody>
      </p:sp>
      <p:sp>
        <p:nvSpPr>
          <p:cNvPr id="454" name="Google Shape;454;p40"/>
          <p:cNvSpPr txBox="1"/>
          <p:nvPr/>
        </p:nvSpPr>
        <p:spPr>
          <a:xfrm>
            <a:off x="6286500" y="3648075"/>
            <a:ext cx="5324475" cy="857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GitHub is a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website that hosts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your Git repositories. It's a "remote" server where you can store a copy of your .git folder. It adds collaboration features:</a:t>
            </a:r>
            <a:endParaRPr/>
          </a:p>
        </p:txBody>
      </p:sp>
      <p:pic>
        <p:nvPicPr>
          <p:cNvPr id="455" name="Google Shape;455;p4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014537" y="2476500"/>
            <a:ext cx="2457450" cy="2457450"/>
          </a:xfrm>
          <a:prstGeom prst="rect">
            <a:avLst/>
          </a:prstGeom>
          <a:noFill/>
          <a:ln>
            <a:noFill/>
          </a:ln>
        </p:spPr>
      </p:pic>
      <p:sp>
        <p:nvSpPr>
          <p:cNvPr id="456" name="Google Shape;456;p40"/>
          <p:cNvSpPr txBox="1"/>
          <p:nvPr/>
        </p:nvSpPr>
        <p:spPr>
          <a:xfrm>
            <a:off x="6486525" y="469582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57" name="Google Shape;457;p40"/>
          <p:cNvSpPr txBox="1"/>
          <p:nvPr/>
        </p:nvSpPr>
        <p:spPr>
          <a:xfrm>
            <a:off x="6572250" y="4695825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Pull Requests &amp; Code Reviews</a:t>
            </a:r>
            <a:endParaRPr/>
          </a:p>
        </p:txBody>
      </p:sp>
      <p:sp>
        <p:nvSpPr>
          <p:cNvPr id="458" name="Google Shape;458;p40"/>
          <p:cNvSpPr txBox="1"/>
          <p:nvPr/>
        </p:nvSpPr>
        <p:spPr>
          <a:xfrm>
            <a:off x="6486525" y="509587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59" name="Google Shape;459;p40"/>
          <p:cNvSpPr txBox="1"/>
          <p:nvPr/>
        </p:nvSpPr>
        <p:spPr>
          <a:xfrm>
            <a:off x="6572250" y="5095875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Issue Tracking</a:t>
            </a:r>
            <a:endParaRPr/>
          </a:p>
        </p:txBody>
      </p:sp>
      <p:sp>
        <p:nvSpPr>
          <p:cNvPr id="460" name="Google Shape;460;p40"/>
          <p:cNvSpPr txBox="1"/>
          <p:nvPr/>
        </p:nvSpPr>
        <p:spPr>
          <a:xfrm>
            <a:off x="6486525" y="5495925"/>
            <a:ext cx="381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•</a:t>
            </a:r>
            <a:endParaRPr/>
          </a:p>
        </p:txBody>
      </p:sp>
      <p:sp>
        <p:nvSpPr>
          <p:cNvPr id="461" name="Google Shape;461;p40"/>
          <p:cNvSpPr txBox="1"/>
          <p:nvPr/>
        </p:nvSpPr>
        <p:spPr>
          <a:xfrm>
            <a:off x="6572250" y="5495925"/>
            <a:ext cx="5038725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3810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Automation (Actions)</a:t>
            </a:r>
            <a:endParaRPr/>
          </a:p>
        </p:txBody>
      </p:sp>
      <p:sp>
        <p:nvSpPr>
          <p:cNvPr id="462" name="Google Shape;462;p40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Git vs. GitHub</a:t>
            </a:r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7" name="Google Shape;467;p4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8" name="Google Shape;468;p4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43137"/>
            <a:ext cx="5324475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469" name="Google Shape;469;p4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43137"/>
            <a:ext cx="5324475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470" name="Google Shape;470;p41"/>
          <p:cNvSpPr txBox="1"/>
          <p:nvPr/>
        </p:nvSpPr>
        <p:spPr>
          <a:xfrm>
            <a:off x="876300" y="2538412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HTTPS (+ PAT)</a:t>
            </a:r>
            <a:endParaRPr/>
          </a:p>
        </p:txBody>
      </p:sp>
      <p:sp>
        <p:nvSpPr>
          <p:cNvPr id="471" name="Google Shape;471;p41"/>
          <p:cNvSpPr txBox="1"/>
          <p:nvPr/>
        </p:nvSpPr>
        <p:spPr>
          <a:xfrm>
            <a:off x="876300" y="2986087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Uses a https://... URL. This is easy to start with, but you can't use your main GitHub password.</a:t>
            </a:r>
            <a:endParaRPr/>
          </a:p>
        </p:txBody>
      </p:sp>
      <p:sp>
        <p:nvSpPr>
          <p:cNvPr id="472" name="Google Shape;472;p41"/>
          <p:cNvSpPr txBox="1"/>
          <p:nvPr/>
        </p:nvSpPr>
        <p:spPr>
          <a:xfrm>
            <a:off x="876300" y="3671887"/>
            <a:ext cx="47339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 must generate a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Personal Access Token (PAT)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from GitHub's settings and use that token as your password. This is secure but can be annoying to set up.</a:t>
            </a:r>
            <a:endParaRPr/>
          </a:p>
        </p:txBody>
      </p:sp>
      <p:sp>
        <p:nvSpPr>
          <p:cNvPr id="473" name="Google Shape;473;p41"/>
          <p:cNvSpPr txBox="1"/>
          <p:nvPr/>
        </p:nvSpPr>
        <p:spPr>
          <a:xfrm>
            <a:off x="6581775" y="2538412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SSH (Recommended)</a:t>
            </a:r>
            <a:endParaRPr/>
          </a:p>
        </p:txBody>
      </p:sp>
      <p:sp>
        <p:nvSpPr>
          <p:cNvPr id="474" name="Google Shape;474;p41"/>
          <p:cNvSpPr txBox="1"/>
          <p:nvPr/>
        </p:nvSpPr>
        <p:spPr>
          <a:xfrm>
            <a:off x="6581775" y="2986087"/>
            <a:ext cx="47339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Uses a git@github.com:... URL. This is the professional standard. You generate a "key pair" (public/private) on your computer.</a:t>
            </a:r>
            <a:endParaRPr/>
          </a:p>
        </p:txBody>
      </p:sp>
      <p:sp>
        <p:nvSpPr>
          <p:cNvPr id="475" name="Google Shape;475;p41"/>
          <p:cNvSpPr txBox="1"/>
          <p:nvPr/>
        </p:nvSpPr>
        <p:spPr>
          <a:xfrm>
            <a:off x="6581775" y="3929062"/>
            <a:ext cx="47339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 upload your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public key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GitHub once. Your computer then uses the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private key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authenticate automatically. No passwords needed!</a:t>
            </a:r>
            <a:endParaRPr/>
          </a:p>
        </p:txBody>
      </p:sp>
      <p:sp>
        <p:nvSpPr>
          <p:cNvPr id="476" name="Google Shape;476;p41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Authentication: How You Prove You're You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" name="Google Shape;481;p4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2" name="Google Shape;482;p4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1828800"/>
            <a:ext cx="5324475" cy="375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83" name="Google Shape;483;p4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1828800"/>
            <a:ext cx="5324475" cy="37528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42"/>
          <p:cNvSpPr txBox="1"/>
          <p:nvPr/>
        </p:nvSpPr>
        <p:spPr>
          <a:xfrm>
            <a:off x="876300" y="2124075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Option 1: git clone</a:t>
            </a:r>
            <a:endParaRPr/>
          </a:p>
        </p:txBody>
      </p:sp>
      <p:sp>
        <p:nvSpPr>
          <p:cNvPr id="485" name="Google Shape;485;p42"/>
          <p:cNvSpPr txBox="1"/>
          <p:nvPr/>
        </p:nvSpPr>
        <p:spPr>
          <a:xfrm>
            <a:off x="876300" y="2571750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 this for existing projects.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You find a repo on GitHub and want a local copy.</a:t>
            </a:r>
            <a:endParaRPr/>
          </a:p>
        </p:txBody>
      </p:sp>
      <p:sp>
        <p:nvSpPr>
          <p:cNvPr id="486" name="Google Shape;486;p42"/>
          <p:cNvSpPr txBox="1"/>
          <p:nvPr/>
        </p:nvSpPr>
        <p:spPr>
          <a:xfrm>
            <a:off x="876300" y="3257550"/>
            <a:ext cx="4733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clone </a:t>
            </a:r>
            <a:endParaRPr/>
          </a:p>
        </p:txBody>
      </p:sp>
      <p:sp>
        <p:nvSpPr>
          <p:cNvPr id="487" name="Google Shape;487;p42"/>
          <p:cNvSpPr txBox="1"/>
          <p:nvPr/>
        </p:nvSpPr>
        <p:spPr>
          <a:xfrm>
            <a:off x="876300" y="3686175"/>
            <a:ext cx="4733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command automatically:</a:t>
            </a:r>
            <a:endParaRPr/>
          </a:p>
        </p:txBody>
      </p:sp>
      <p:sp>
        <p:nvSpPr>
          <p:cNvPr id="488" name="Google Shape;488;p42"/>
          <p:cNvSpPr txBox="1"/>
          <p:nvPr/>
        </p:nvSpPr>
        <p:spPr>
          <a:xfrm>
            <a:off x="6581775" y="2124075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Option 2: git remote add</a:t>
            </a:r>
            <a:endParaRPr/>
          </a:p>
        </p:txBody>
      </p:sp>
      <p:sp>
        <p:nvSpPr>
          <p:cNvPr id="489" name="Google Shape;489;p42"/>
          <p:cNvSpPr txBox="1"/>
          <p:nvPr/>
        </p:nvSpPr>
        <p:spPr>
          <a:xfrm>
            <a:off x="6581775" y="2571750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Use this for new projects you started locally.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You ran git init and now want to back it up to GitHub.</a:t>
            </a:r>
            <a:endParaRPr/>
          </a:p>
        </p:txBody>
      </p:sp>
      <p:sp>
        <p:nvSpPr>
          <p:cNvPr id="490" name="Google Shape;490;p42"/>
          <p:cNvSpPr txBox="1"/>
          <p:nvPr/>
        </p:nvSpPr>
        <p:spPr>
          <a:xfrm>
            <a:off x="6581775" y="3257550"/>
            <a:ext cx="4733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1. Create a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new, empty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repo on GitHub (don't add a README).</a:t>
            </a:r>
            <a:endParaRPr/>
          </a:p>
        </p:txBody>
      </p:sp>
      <p:sp>
        <p:nvSpPr>
          <p:cNvPr id="491" name="Google Shape;491;p42"/>
          <p:cNvSpPr txBox="1"/>
          <p:nvPr/>
        </p:nvSpPr>
        <p:spPr>
          <a:xfrm>
            <a:off x="6581775" y="3686175"/>
            <a:ext cx="4733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2. Get the URL.</a:t>
            </a:r>
            <a:endParaRPr/>
          </a:p>
        </p:txBody>
      </p:sp>
      <p:sp>
        <p:nvSpPr>
          <p:cNvPr id="492" name="Google Shape;492;p42"/>
          <p:cNvSpPr txBox="1"/>
          <p:nvPr/>
        </p:nvSpPr>
        <p:spPr>
          <a:xfrm>
            <a:off x="6581775" y="4114800"/>
            <a:ext cx="473392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3. git remote add origin </a:t>
            </a:r>
            <a:endParaRPr/>
          </a:p>
        </p:txBody>
      </p:sp>
      <p:sp>
        <p:nvSpPr>
          <p:cNvPr id="493" name="Google Shape;493;p42"/>
          <p:cNvSpPr txBox="1"/>
          <p:nvPr/>
        </p:nvSpPr>
        <p:spPr>
          <a:xfrm>
            <a:off x="1304925" y="4114800"/>
            <a:ext cx="4305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Downloads the entire repo.</a:t>
            </a:r>
            <a:endParaRPr/>
          </a:p>
        </p:txBody>
      </p:sp>
      <p:sp>
        <p:nvSpPr>
          <p:cNvPr id="494" name="Google Shape;494;p42"/>
          <p:cNvSpPr txBox="1"/>
          <p:nvPr/>
        </p:nvSpPr>
        <p:spPr>
          <a:xfrm>
            <a:off x="1304925" y="4486275"/>
            <a:ext cx="4305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Creates the origin remote pointing to the URL.</a:t>
            </a:r>
            <a:endParaRPr/>
          </a:p>
        </p:txBody>
      </p:sp>
      <p:sp>
        <p:nvSpPr>
          <p:cNvPr id="495" name="Google Shape;495;p42"/>
          <p:cNvSpPr txBox="1"/>
          <p:nvPr/>
        </p:nvSpPr>
        <p:spPr>
          <a:xfrm>
            <a:off x="1304925" y="4857750"/>
            <a:ext cx="4305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Checks out the main branch.</a:t>
            </a:r>
            <a:endParaRPr/>
          </a:p>
        </p:txBody>
      </p:sp>
      <p:sp>
        <p:nvSpPr>
          <p:cNvPr id="496" name="Google Shape;496;p42"/>
          <p:cNvSpPr txBox="1"/>
          <p:nvPr/>
        </p:nvSpPr>
        <p:spPr>
          <a:xfrm>
            <a:off x="1066800" y="4114800"/>
            <a:ext cx="180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497" name="Google Shape;497;p42"/>
          <p:cNvSpPr txBox="1"/>
          <p:nvPr/>
        </p:nvSpPr>
        <p:spPr>
          <a:xfrm>
            <a:off x="1066800" y="4486275"/>
            <a:ext cx="180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498" name="Google Shape;498;p42"/>
          <p:cNvSpPr txBox="1"/>
          <p:nvPr/>
        </p:nvSpPr>
        <p:spPr>
          <a:xfrm>
            <a:off x="1066800" y="4857750"/>
            <a:ext cx="180975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3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2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499" name="Google Shape;499;p42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Connecting to a Remote</a:t>
            </a:r>
            <a:endParaRPr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4" name="Google Shape;504;p4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5" name="Google Shape;505;p43"/>
          <p:cNvSpPr txBox="1"/>
          <p:nvPr/>
        </p:nvSpPr>
        <p:spPr>
          <a:xfrm>
            <a:off x="1809750" y="2078831"/>
            <a:ext cx="8572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clone is the easiest way to get started on a project.</a:t>
            </a:r>
            <a:endParaRPr/>
          </a:p>
        </p:txBody>
      </p:sp>
      <p:sp>
        <p:nvSpPr>
          <p:cNvPr id="506" name="Google Shape;506;p43"/>
          <p:cNvSpPr txBox="1"/>
          <p:nvPr/>
        </p:nvSpPr>
        <p:spPr>
          <a:xfrm>
            <a:off x="2238375" y="2531268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Get the URL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Go to any GitHub repo and click the green "Code" button. Choose SSH or HTTPS.</a:t>
            </a:r>
            <a:endParaRPr/>
          </a:p>
        </p:txBody>
      </p:sp>
      <p:sp>
        <p:nvSpPr>
          <p:cNvPr id="507" name="Google Shape;507;p43"/>
          <p:cNvSpPr txBox="1"/>
          <p:nvPr/>
        </p:nvSpPr>
        <p:spPr>
          <a:xfrm>
            <a:off x="2238375" y="3264693"/>
            <a:ext cx="8143875" cy="1323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Run the Command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This will create a new folder with the repo's name.</a:t>
            </a:r>
            <a:endParaRPr/>
          </a:p>
        </p:txBody>
      </p:sp>
      <p:sp>
        <p:nvSpPr>
          <p:cNvPr id="508" name="Google Shape;508;p43"/>
          <p:cNvSpPr txBox="1"/>
          <p:nvPr/>
        </p:nvSpPr>
        <p:spPr>
          <a:xfrm>
            <a:off x="2238375" y="4779168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You're Ready!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You can now cd some-project and start working. It's already linked to the remote.</a:t>
            </a:r>
            <a:endParaRPr/>
          </a:p>
        </p:txBody>
      </p:sp>
      <p:pic>
        <p:nvPicPr>
          <p:cNvPr id="509" name="Google Shape;509;p4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57889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0" name="Google Shape;510;p4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31231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1" name="Google Shape;511;p4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826793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12" name="Google Shape;512;p43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Deep Dive: git clone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7" name="Google Shape;517;p4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4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24025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19" name="Google Shape;519;p44"/>
          <p:cNvSpPr txBox="1"/>
          <p:nvPr/>
        </p:nvSpPr>
        <p:spPr>
          <a:xfrm>
            <a:off x="581025" y="1724025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Upload Your Commits</a:t>
            </a:r>
            <a:endParaRPr/>
          </a:p>
        </p:txBody>
      </p:sp>
      <p:sp>
        <p:nvSpPr>
          <p:cNvPr id="520" name="Google Shape;520;p44"/>
          <p:cNvSpPr txBox="1"/>
          <p:nvPr/>
        </p:nvSpPr>
        <p:spPr>
          <a:xfrm>
            <a:off x="581025" y="2257425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push sends your local commits to the remote repository (origin).</a:t>
            </a:r>
            <a:endParaRPr/>
          </a:p>
        </p:txBody>
      </p:sp>
      <p:sp>
        <p:nvSpPr>
          <p:cNvPr id="521" name="Google Shape;521;p44"/>
          <p:cNvSpPr txBox="1"/>
          <p:nvPr/>
        </p:nvSpPr>
        <p:spPr>
          <a:xfrm>
            <a:off x="581025" y="2981325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first time you push a new branch, you must "set the upstream" (-u). This links your local branch to the remote branch.</a:t>
            </a:r>
            <a:endParaRPr/>
          </a:p>
        </p:txBody>
      </p:sp>
      <p:sp>
        <p:nvSpPr>
          <p:cNvPr id="522" name="Google Shape;522;p44"/>
          <p:cNvSpPr txBox="1"/>
          <p:nvPr/>
        </p:nvSpPr>
        <p:spPr>
          <a:xfrm>
            <a:off x="581025" y="3705225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Commands:</a:t>
            </a:r>
            <a:endParaRPr/>
          </a:p>
        </p:txBody>
      </p:sp>
      <p:sp>
        <p:nvSpPr>
          <p:cNvPr id="523" name="Google Shape;523;p44"/>
          <p:cNvSpPr txBox="1"/>
          <p:nvPr/>
        </p:nvSpPr>
        <p:spPr>
          <a:xfrm>
            <a:off x="581025" y="4238625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First push on main: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push -u origin main</a:t>
            </a:r>
            <a:endParaRPr/>
          </a:p>
        </p:txBody>
      </p:sp>
      <p:sp>
        <p:nvSpPr>
          <p:cNvPr id="524" name="Google Shape;524;p44"/>
          <p:cNvSpPr txBox="1"/>
          <p:nvPr/>
        </p:nvSpPr>
        <p:spPr>
          <a:xfrm>
            <a:off x="581025" y="4962525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Subsequent pushes: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push</a:t>
            </a:r>
            <a:endParaRPr/>
          </a:p>
        </p:txBody>
      </p:sp>
      <p:pic>
        <p:nvPicPr>
          <p:cNvPr id="525" name="Google Shape;525;p4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33550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26" name="Google Shape;526;p44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Deep Dive: git push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1" name="Google Shape;531;p4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32" name="Google Shape;532;p4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00225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5"/>
          <p:cNvSpPr txBox="1"/>
          <p:nvPr/>
        </p:nvSpPr>
        <p:spPr>
          <a:xfrm>
            <a:off x="581025" y="1800225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Sync With Your Team</a:t>
            </a:r>
            <a:endParaRPr/>
          </a:p>
        </p:txBody>
      </p:sp>
      <p:sp>
        <p:nvSpPr>
          <p:cNvPr id="534" name="Google Shape;534;p45"/>
          <p:cNvSpPr txBox="1"/>
          <p:nvPr/>
        </p:nvSpPr>
        <p:spPr>
          <a:xfrm>
            <a:off x="581025" y="2333625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pull updates your local branch with any new commits from the remote repository. Your teammates push, you pull.</a:t>
            </a:r>
            <a:endParaRPr/>
          </a:p>
        </p:txBody>
      </p:sp>
      <p:sp>
        <p:nvSpPr>
          <p:cNvPr id="535" name="Google Shape;535;p45"/>
          <p:cNvSpPr txBox="1"/>
          <p:nvPr/>
        </p:nvSpPr>
        <p:spPr>
          <a:xfrm>
            <a:off x="581025" y="3057525"/>
            <a:ext cx="53244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is two commands in one:</a:t>
            </a:r>
            <a:endParaRPr/>
          </a:p>
        </p:txBody>
      </p:sp>
      <p:sp>
        <p:nvSpPr>
          <p:cNvPr id="536" name="Google Shape;536;p45"/>
          <p:cNvSpPr txBox="1"/>
          <p:nvPr/>
        </p:nvSpPr>
        <p:spPr>
          <a:xfrm>
            <a:off x="581025" y="4638675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Always pull before you push!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This ensures you have your team's latest work before you add yours.</a:t>
            </a:r>
            <a:endParaRPr/>
          </a:p>
        </p:txBody>
      </p:sp>
      <p:sp>
        <p:nvSpPr>
          <p:cNvPr id="537" name="Google Shape;537;p45"/>
          <p:cNvSpPr txBox="1"/>
          <p:nvPr/>
        </p:nvSpPr>
        <p:spPr>
          <a:xfrm>
            <a:off x="1104900" y="3519487"/>
            <a:ext cx="48006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fetch: Downloads the new data.</a:t>
            </a:r>
            <a:endParaRPr/>
          </a:p>
        </p:txBody>
      </p:sp>
      <p:sp>
        <p:nvSpPr>
          <p:cNvPr id="538" name="Google Shape;538;p45"/>
          <p:cNvSpPr txBox="1"/>
          <p:nvPr/>
        </p:nvSpPr>
        <p:spPr>
          <a:xfrm>
            <a:off x="1104900" y="3905250"/>
            <a:ext cx="48006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merge: Merges the downloaded data into your current branch.</a:t>
            </a:r>
            <a:endParaRPr/>
          </a:p>
        </p:txBody>
      </p:sp>
      <p:pic>
        <p:nvPicPr>
          <p:cNvPr id="539" name="Google Shape;539;p4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809750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540" name="Google Shape;540;p45"/>
          <p:cNvSpPr txBox="1"/>
          <p:nvPr/>
        </p:nvSpPr>
        <p:spPr>
          <a:xfrm>
            <a:off x="866775" y="3519487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541" name="Google Shape;541;p45"/>
          <p:cNvSpPr txBox="1"/>
          <p:nvPr/>
        </p:nvSpPr>
        <p:spPr>
          <a:xfrm>
            <a:off x="866775" y="3905250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542" name="Google Shape;542;p45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Deep Dive: git pull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7" name="Google Shape;547;p4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8" name="Google Shape;548;p4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028825"/>
            <a:ext cx="5324475" cy="3352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9" name="Google Shape;549;p4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028825"/>
            <a:ext cx="5324475" cy="3352800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6"/>
          <p:cNvSpPr txBox="1"/>
          <p:nvPr/>
        </p:nvSpPr>
        <p:spPr>
          <a:xfrm>
            <a:off x="876300" y="2324100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git fetch (The Safe Way)</a:t>
            </a:r>
            <a:endParaRPr/>
          </a:p>
        </p:txBody>
      </p:sp>
      <p:sp>
        <p:nvSpPr>
          <p:cNvPr id="551" name="Google Shape;551;p46"/>
          <p:cNvSpPr txBox="1"/>
          <p:nvPr/>
        </p:nvSpPr>
        <p:spPr>
          <a:xfrm>
            <a:off x="876300" y="2771775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Downloads all new data from the remote, but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does not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integrate it. Your working files are untouched.</a:t>
            </a:r>
            <a:endParaRPr/>
          </a:p>
        </p:txBody>
      </p:sp>
      <p:sp>
        <p:nvSpPr>
          <p:cNvPr id="552" name="Google Shape;552;p46"/>
          <p:cNvSpPr txBox="1"/>
          <p:nvPr/>
        </p:nvSpPr>
        <p:spPr>
          <a:xfrm>
            <a:off x="876300" y="3457575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is "safe" because you can look at the changes (git log origin/main) before you decide to merge them.</a:t>
            </a:r>
            <a:endParaRPr/>
          </a:p>
        </p:txBody>
      </p:sp>
      <p:sp>
        <p:nvSpPr>
          <p:cNvPr id="553" name="Google Shape;553;p46"/>
          <p:cNvSpPr txBox="1"/>
          <p:nvPr/>
        </p:nvSpPr>
        <p:spPr>
          <a:xfrm>
            <a:off x="876300" y="4143375"/>
            <a:ext cx="4733925" cy="7715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Workflow: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fetch origin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merge origin/main</a:t>
            </a:r>
            <a:endParaRPr/>
          </a:p>
        </p:txBody>
      </p:sp>
      <p:sp>
        <p:nvSpPr>
          <p:cNvPr id="554" name="Google Shape;554;p46"/>
          <p:cNvSpPr txBox="1"/>
          <p:nvPr/>
        </p:nvSpPr>
        <p:spPr>
          <a:xfrm>
            <a:off x="6581775" y="2324100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git pull (The Easy Way)</a:t>
            </a:r>
            <a:endParaRPr/>
          </a:p>
        </p:txBody>
      </p:sp>
      <p:sp>
        <p:nvSpPr>
          <p:cNvPr id="555" name="Google Shape;555;p46"/>
          <p:cNvSpPr txBox="1"/>
          <p:nvPr/>
        </p:nvSpPr>
        <p:spPr>
          <a:xfrm>
            <a:off x="6581775" y="2771775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is a shortcut for fetch + merge. It downloads </a:t>
            </a: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and immediately</a:t>
            </a: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tries to merge into your current branch.</a:t>
            </a:r>
            <a:endParaRPr/>
          </a:p>
        </p:txBody>
      </p:sp>
      <p:sp>
        <p:nvSpPr>
          <p:cNvPr id="556" name="Google Shape;556;p46"/>
          <p:cNvSpPr txBox="1"/>
          <p:nvPr/>
        </p:nvSpPr>
        <p:spPr>
          <a:xfrm>
            <a:off x="6581775" y="3457575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It's convenient, but be ready to handle merge conflicts if they appear.</a:t>
            </a:r>
            <a:endParaRPr/>
          </a:p>
        </p:txBody>
      </p:sp>
      <p:sp>
        <p:nvSpPr>
          <p:cNvPr id="557" name="Google Shape;557;p46"/>
          <p:cNvSpPr txBox="1"/>
          <p:nvPr/>
        </p:nvSpPr>
        <p:spPr>
          <a:xfrm>
            <a:off x="6581775" y="4143375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Workflow: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pull origin main</a:t>
            </a:r>
            <a:endParaRPr/>
          </a:p>
        </p:txBody>
      </p:sp>
      <p:sp>
        <p:nvSpPr>
          <p:cNvPr id="558" name="Google Shape;558;p46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Fetch vs. Pull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63" name="Google Shape;563;p4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7"/>
          <p:cNvSpPr txBox="1"/>
          <p:nvPr/>
        </p:nvSpPr>
        <p:spPr>
          <a:xfrm>
            <a:off x="1809750" y="2197893"/>
            <a:ext cx="8572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local repo doesn't just have your branches. It has read-only "remote-tracking" copies of the remote's branches.</a:t>
            </a:r>
            <a:endParaRPr/>
          </a:p>
        </p:txBody>
      </p:sp>
      <p:sp>
        <p:nvSpPr>
          <p:cNvPr id="565" name="Google Shape;565;p47"/>
          <p:cNvSpPr txBox="1"/>
          <p:nvPr/>
        </p:nvSpPr>
        <p:spPr>
          <a:xfrm>
            <a:off x="2238375" y="2921793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main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This is </a:t>
            </a: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your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local branch. You can edit it.</a:t>
            </a:r>
            <a:endParaRPr/>
          </a:p>
        </p:txBody>
      </p:sp>
      <p:sp>
        <p:nvSpPr>
          <p:cNvPr id="566" name="Google Shape;566;p47"/>
          <p:cNvSpPr txBox="1"/>
          <p:nvPr/>
        </p:nvSpPr>
        <p:spPr>
          <a:xfrm>
            <a:off x="2238375" y="3655218"/>
            <a:ext cx="81438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origin/main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This is the </a:t>
            </a: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remote-tracking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branch. It's a read-only pointer to origin's main branch *the last time you fetched*. You can't edit it.</a:t>
            </a:r>
            <a:endParaRPr/>
          </a:p>
        </p:txBody>
      </p:sp>
      <p:sp>
        <p:nvSpPr>
          <p:cNvPr id="567" name="Google Shape;567;p47"/>
          <p:cNvSpPr txBox="1"/>
          <p:nvPr/>
        </p:nvSpPr>
        <p:spPr>
          <a:xfrm>
            <a:off x="2238375" y="4660106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View all branches: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branch -a (shows local and remote-tracking)</a:t>
            </a:r>
            <a:endParaRPr/>
          </a:p>
        </p:txBody>
      </p:sp>
      <p:pic>
        <p:nvPicPr>
          <p:cNvPr id="568" name="Google Shape;568;p4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96941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4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707731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70" name="Google Shape;570;p47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Understanding Remote Branches</a:t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5" name="Google Shape;575;p4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76" name="Google Shape;576;p48"/>
          <p:cNvSpPr txBox="1"/>
          <p:nvPr/>
        </p:nvSpPr>
        <p:spPr>
          <a:xfrm>
            <a:off x="1809750" y="1312068"/>
            <a:ext cx="90011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Your Mission:</a:t>
            </a:r>
            <a:endParaRPr/>
          </a:p>
        </p:txBody>
      </p:sp>
      <p:sp>
        <p:nvSpPr>
          <p:cNvPr id="577" name="Google Shape;577;p48"/>
          <p:cNvSpPr txBox="1"/>
          <p:nvPr/>
        </p:nvSpPr>
        <p:spPr>
          <a:xfrm>
            <a:off x="2238375" y="1807368"/>
            <a:ext cx="81438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Create Remote Repo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Go to GitHub.com. Create a </a:t>
            </a: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new, empty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repository (no README, no .gitignore). Call it git-practice.</a:t>
            </a:r>
            <a:endParaRPr/>
          </a:p>
        </p:txBody>
      </p:sp>
      <p:sp>
        <p:nvSpPr>
          <p:cNvPr id="578" name="Google Shape;578;p48"/>
          <p:cNvSpPr txBox="1"/>
          <p:nvPr/>
        </p:nvSpPr>
        <p:spPr>
          <a:xfrm>
            <a:off x="2238375" y="2812256"/>
            <a:ext cx="8143875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Link &amp; Push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 your local git-practice folder, add the remote (copy the SSH or HTTPS URL from GitHub):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remote add origin 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push -u origin main (and push your feature/add-bio branch too!)</a:t>
            </a:r>
            <a:endParaRPr/>
          </a:p>
        </p:txBody>
      </p:sp>
      <p:sp>
        <p:nvSpPr>
          <p:cNvPr id="579" name="Google Shape;579;p48"/>
          <p:cNvSpPr txBox="1"/>
          <p:nvPr/>
        </p:nvSpPr>
        <p:spPr>
          <a:xfrm>
            <a:off x="2238375" y="4088606"/>
            <a:ext cx="81438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Clone It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cd .. (go up one directory).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clone git-practice-clone (clone to a *new* folder).</a:t>
            </a:r>
            <a:endParaRPr/>
          </a:p>
        </p:txBody>
      </p:sp>
      <p:sp>
        <p:nvSpPr>
          <p:cNvPr id="580" name="Google Shape;580;p48"/>
          <p:cNvSpPr txBox="1"/>
          <p:nvPr/>
        </p:nvSpPr>
        <p:spPr>
          <a:xfrm>
            <a:off x="2238375" y="5093493"/>
            <a:ext cx="81438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4. Push &amp; Pull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cd git-practice-clone, edit README.md, commit, and git push.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cd ../git-practice (go back to original), and run git pull. See the new change appear!</a:t>
            </a:r>
            <a:endParaRPr/>
          </a:p>
        </p:txBody>
      </p:sp>
      <p:pic>
        <p:nvPicPr>
          <p:cNvPr id="581" name="Google Shape;581;p4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85499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2" name="Google Shape;582;p4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85988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3" name="Google Shape;583;p4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13623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84" name="Google Shape;584;p4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514111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585" name="Google Shape;585;p48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3 Workshop (15 min)</a:t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0" name="Google Shape;590;p4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9"/>
          <p:cNvSpPr txBox="1"/>
          <p:nvPr/>
        </p:nvSpPr>
        <p:spPr>
          <a:xfrm>
            <a:off x="305276" y="2876550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3: Questions?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5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6" name="Google Shape;596;p5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97" name="Google Shape;597;p50"/>
          <p:cNvSpPr/>
          <p:nvPr/>
        </p:nvSpPr>
        <p:spPr>
          <a:xfrm>
            <a:off x="5619750" y="279558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98" name="Google Shape;598;p50"/>
          <p:cNvSpPr txBox="1"/>
          <p:nvPr/>
        </p:nvSpPr>
        <p:spPr>
          <a:xfrm>
            <a:off x="1850469" y="3128962"/>
            <a:ext cx="8491061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4: Collaborative Workflows</a:t>
            </a:r>
            <a:endParaRPr/>
          </a:p>
        </p:txBody>
      </p:sp>
      <p:sp>
        <p:nvSpPr>
          <p:cNvPr id="599" name="Google Shape;599;p50"/>
          <p:cNvSpPr txBox="1"/>
          <p:nvPr/>
        </p:nvSpPr>
        <p:spPr>
          <a:xfrm>
            <a:off x="4071937" y="4005262"/>
            <a:ext cx="4048125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Pull Requests, Code Reviews, and Forking</a:t>
            </a:r>
            <a:endParaRPr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" name="Google Shape;604;p5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05" name="Google Shape;605;p51"/>
          <p:cNvSpPr txBox="1"/>
          <p:nvPr/>
        </p:nvSpPr>
        <p:spPr>
          <a:xfrm>
            <a:off x="2238375" y="2319337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Feature Branch Workflow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606" name="Google Shape;606;p51"/>
          <p:cNvSpPr txBox="1"/>
          <p:nvPr/>
        </p:nvSpPr>
        <p:spPr>
          <a:xfrm>
            <a:off x="2238375" y="2781300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is a Pull Request (PR)?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607" name="Google Shape;607;p51"/>
          <p:cNvSpPr txBox="1"/>
          <p:nvPr/>
        </p:nvSpPr>
        <p:spPr>
          <a:xfrm>
            <a:off x="2238375" y="3243262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How to: Review a PR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608" name="Google Shape;608;p51"/>
          <p:cNvSpPr txBox="1"/>
          <p:nvPr/>
        </p:nvSpPr>
        <p:spPr>
          <a:xfrm>
            <a:off x="2238375" y="3705225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How to: Merge a PR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(5 min)</a:t>
            </a:r>
            <a:endParaRPr/>
          </a:p>
        </p:txBody>
      </p:sp>
      <p:sp>
        <p:nvSpPr>
          <p:cNvPr id="609" name="Google Shape;609;p51"/>
          <p:cNvSpPr txBox="1"/>
          <p:nvPr/>
        </p:nvSpPr>
        <p:spPr>
          <a:xfrm>
            <a:off x="2238375" y="4167187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Forking Workflow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610" name="Google Shape;610;p51"/>
          <p:cNvSpPr txBox="1"/>
          <p:nvPr/>
        </p:nvSpPr>
        <p:spPr>
          <a:xfrm>
            <a:off x="2238375" y="4629150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Workshop (Pairs) &amp; Q&amp;A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(15 min)</a:t>
            </a:r>
            <a:endParaRPr/>
          </a:p>
        </p:txBody>
      </p:sp>
      <p:pic>
        <p:nvPicPr>
          <p:cNvPr id="611" name="Google Shape;611;p5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3669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5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8289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5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2908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4" name="Google Shape;614;p5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37528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5" name="Google Shape;615;p5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2148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6" name="Google Shape;616;p5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09750" y="46767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51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4 Agenda (1 Hour)</a:t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2" name="Google Shape;622;p5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23" name="Google Shape;623;p5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83556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24" name="Google Shape;624;p52"/>
          <p:cNvSpPr txBox="1"/>
          <p:nvPr/>
        </p:nvSpPr>
        <p:spPr>
          <a:xfrm>
            <a:off x="581025" y="1783556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The Professional Workflow</a:t>
            </a:r>
            <a:endParaRPr/>
          </a:p>
        </p:txBody>
      </p:sp>
      <p:sp>
        <p:nvSpPr>
          <p:cNvPr id="625" name="Google Shape;625;p52"/>
          <p:cNvSpPr txBox="1"/>
          <p:nvPr/>
        </p:nvSpPr>
        <p:spPr>
          <a:xfrm>
            <a:off x="1104900" y="2316956"/>
            <a:ext cx="48006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Get the latest main: git checkout main &amp; git pull.</a:t>
            </a:r>
            <a:endParaRPr/>
          </a:p>
        </p:txBody>
      </p:sp>
      <p:sp>
        <p:nvSpPr>
          <p:cNvPr id="626" name="Google Shape;626;p52"/>
          <p:cNvSpPr txBox="1"/>
          <p:nvPr/>
        </p:nvSpPr>
        <p:spPr>
          <a:xfrm>
            <a:off x="1104900" y="2702718"/>
            <a:ext cx="48006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Create your feature branch: git checkout -b my-feature.</a:t>
            </a:r>
            <a:endParaRPr/>
          </a:p>
        </p:txBody>
      </p:sp>
      <p:sp>
        <p:nvSpPr>
          <p:cNvPr id="627" name="Google Shape;627;p52"/>
          <p:cNvSpPr txBox="1"/>
          <p:nvPr/>
        </p:nvSpPr>
        <p:spPr>
          <a:xfrm>
            <a:off x="1104900" y="3359943"/>
            <a:ext cx="48006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Do your work: Edit, add, commit.</a:t>
            </a:r>
            <a:endParaRPr/>
          </a:p>
        </p:txBody>
      </p:sp>
      <p:sp>
        <p:nvSpPr>
          <p:cNvPr id="628" name="Google Shape;628;p52"/>
          <p:cNvSpPr txBox="1"/>
          <p:nvPr/>
        </p:nvSpPr>
        <p:spPr>
          <a:xfrm>
            <a:off x="1104900" y="3745706"/>
            <a:ext cx="48006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Push your branch to remote: git push origin my-feature.</a:t>
            </a:r>
            <a:endParaRPr/>
          </a:p>
        </p:txBody>
      </p:sp>
      <p:sp>
        <p:nvSpPr>
          <p:cNvPr id="629" name="Google Shape;629;p52"/>
          <p:cNvSpPr txBox="1"/>
          <p:nvPr/>
        </p:nvSpPr>
        <p:spPr>
          <a:xfrm>
            <a:off x="1104900" y="4402931"/>
            <a:ext cx="48006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 to GitHub and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Open a Pull Request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630" name="Google Shape;630;p52"/>
          <p:cNvSpPr txBox="1"/>
          <p:nvPr/>
        </p:nvSpPr>
        <p:spPr>
          <a:xfrm>
            <a:off x="1104900" y="4788693"/>
            <a:ext cx="48006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team reviews, comments, and approves.</a:t>
            </a:r>
            <a:endParaRPr/>
          </a:p>
        </p:txBody>
      </p:sp>
      <p:sp>
        <p:nvSpPr>
          <p:cNvPr id="631" name="Google Shape;631;p52"/>
          <p:cNvSpPr txBox="1"/>
          <p:nvPr/>
        </p:nvSpPr>
        <p:spPr>
          <a:xfrm>
            <a:off x="1104900" y="5174456"/>
            <a:ext cx="48006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PR is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merged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into main.</a:t>
            </a:r>
            <a:endParaRPr/>
          </a:p>
        </p:txBody>
      </p:sp>
      <p:pic>
        <p:nvPicPr>
          <p:cNvPr id="632" name="Google Shape;632;p5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93081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52"/>
          <p:cNvSpPr txBox="1"/>
          <p:nvPr/>
        </p:nvSpPr>
        <p:spPr>
          <a:xfrm>
            <a:off x="866775" y="2316956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634" name="Google Shape;634;p52"/>
          <p:cNvSpPr txBox="1"/>
          <p:nvPr/>
        </p:nvSpPr>
        <p:spPr>
          <a:xfrm>
            <a:off x="866775" y="2702718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635" name="Google Shape;635;p52"/>
          <p:cNvSpPr txBox="1"/>
          <p:nvPr/>
        </p:nvSpPr>
        <p:spPr>
          <a:xfrm>
            <a:off x="866775" y="3359943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636" name="Google Shape;636;p52"/>
          <p:cNvSpPr txBox="1"/>
          <p:nvPr/>
        </p:nvSpPr>
        <p:spPr>
          <a:xfrm>
            <a:off x="866775" y="3745706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637" name="Google Shape;637;p52"/>
          <p:cNvSpPr txBox="1"/>
          <p:nvPr/>
        </p:nvSpPr>
        <p:spPr>
          <a:xfrm>
            <a:off x="866775" y="4402931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638" name="Google Shape;638;p52"/>
          <p:cNvSpPr txBox="1"/>
          <p:nvPr/>
        </p:nvSpPr>
        <p:spPr>
          <a:xfrm>
            <a:off x="866775" y="4788693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639" name="Google Shape;639;p52"/>
          <p:cNvSpPr txBox="1"/>
          <p:nvPr/>
        </p:nvSpPr>
        <p:spPr>
          <a:xfrm>
            <a:off x="866775" y="5174456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640" name="Google Shape;640;p52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Pull Request Workflow</a:t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45" name="Google Shape;645;p5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6" name="Google Shape;646;p5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00225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53"/>
          <p:cNvSpPr txBox="1"/>
          <p:nvPr/>
        </p:nvSpPr>
        <p:spPr>
          <a:xfrm>
            <a:off x="581025" y="1981200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Pull Request (PR) is a formal way to propose changes. It's not a Git command, it's a GitHub feature.</a:t>
            </a:r>
            <a:endParaRPr/>
          </a:p>
        </p:txBody>
      </p:sp>
      <p:sp>
        <p:nvSpPr>
          <p:cNvPr id="648" name="Google Shape;648;p53"/>
          <p:cNvSpPr txBox="1"/>
          <p:nvPr/>
        </p:nvSpPr>
        <p:spPr>
          <a:xfrm>
            <a:off x="581025" y="2705100"/>
            <a:ext cx="53244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It's a dedicated web page that tracks:</a:t>
            </a:r>
            <a:endParaRPr/>
          </a:p>
        </p:txBody>
      </p:sp>
      <p:sp>
        <p:nvSpPr>
          <p:cNvPr id="649" name="Google Shape;649;p53"/>
          <p:cNvSpPr txBox="1"/>
          <p:nvPr/>
        </p:nvSpPr>
        <p:spPr>
          <a:xfrm>
            <a:off x="866775" y="3157537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conversation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about your changes.</a:t>
            </a:r>
            <a:endParaRPr/>
          </a:p>
        </p:txBody>
      </p:sp>
      <p:sp>
        <p:nvSpPr>
          <p:cNvPr id="650" name="Google Shape;650;p53"/>
          <p:cNvSpPr txBox="1"/>
          <p:nvPr/>
        </p:nvSpPr>
        <p:spPr>
          <a:xfrm>
            <a:off x="866775" y="3543300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code review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(comments, suggestions).</a:t>
            </a:r>
            <a:endParaRPr/>
          </a:p>
        </p:txBody>
      </p:sp>
      <p:sp>
        <p:nvSpPr>
          <p:cNvPr id="651" name="Google Shape;651;p53"/>
          <p:cNvSpPr txBox="1"/>
          <p:nvPr/>
        </p:nvSpPr>
        <p:spPr>
          <a:xfrm>
            <a:off x="866775" y="3929062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commits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in your branch.</a:t>
            </a:r>
            <a:endParaRPr/>
          </a:p>
        </p:txBody>
      </p:sp>
      <p:sp>
        <p:nvSpPr>
          <p:cNvPr id="652" name="Google Shape;652;p53"/>
          <p:cNvSpPr txBox="1"/>
          <p:nvPr/>
        </p:nvSpPr>
        <p:spPr>
          <a:xfrm>
            <a:off x="866775" y="4314825"/>
            <a:ext cx="503872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Status checks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(like automated tests) to see if your code is safe to merge.</a:t>
            </a:r>
            <a:endParaRPr/>
          </a:p>
        </p:txBody>
      </p:sp>
      <p:pic>
        <p:nvPicPr>
          <p:cNvPr id="653" name="Google Shape;653;p5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809750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3"/>
          <p:cNvSpPr txBox="1"/>
          <p:nvPr/>
        </p:nvSpPr>
        <p:spPr>
          <a:xfrm>
            <a:off x="628650" y="3157537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655" name="Google Shape;655;p53"/>
          <p:cNvSpPr txBox="1"/>
          <p:nvPr/>
        </p:nvSpPr>
        <p:spPr>
          <a:xfrm>
            <a:off x="628650" y="3543300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656" name="Google Shape;656;p53"/>
          <p:cNvSpPr txBox="1"/>
          <p:nvPr/>
        </p:nvSpPr>
        <p:spPr>
          <a:xfrm>
            <a:off x="628650" y="3929062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657" name="Google Shape;657;p53"/>
          <p:cNvSpPr txBox="1"/>
          <p:nvPr/>
        </p:nvSpPr>
        <p:spPr>
          <a:xfrm>
            <a:off x="628650" y="4314825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658" name="Google Shape;658;p53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 is a Pull Request?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3" name="Google Shape;663;p5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664" name="Google Shape;664;p54"/>
          <p:cNvSpPr txBox="1"/>
          <p:nvPr/>
        </p:nvSpPr>
        <p:spPr>
          <a:xfrm>
            <a:off x="2238375" y="1735931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Push Your Branch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First, git push origin my-feature.</a:t>
            </a:r>
            <a:endParaRPr/>
          </a:p>
        </p:txBody>
      </p:sp>
      <p:sp>
        <p:nvSpPr>
          <p:cNvPr id="665" name="Google Shape;665;p54"/>
          <p:cNvSpPr txBox="1"/>
          <p:nvPr/>
        </p:nvSpPr>
        <p:spPr>
          <a:xfrm>
            <a:off x="2238375" y="2469356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Go to GitHub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GitHub will see your new branch and show a yellow banner: "my-feature had recent pushes".</a:t>
            </a:r>
            <a:endParaRPr/>
          </a:p>
        </p:txBody>
      </p:sp>
      <p:sp>
        <p:nvSpPr>
          <p:cNvPr id="666" name="Google Shape;666;p54"/>
          <p:cNvSpPr txBox="1"/>
          <p:nvPr/>
        </p:nvSpPr>
        <p:spPr>
          <a:xfrm>
            <a:off x="2238375" y="3202781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Click "Compare &amp; pull request"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This opens the PR form.</a:t>
            </a:r>
            <a:endParaRPr/>
          </a:p>
        </p:txBody>
      </p:sp>
      <p:sp>
        <p:nvSpPr>
          <p:cNvPr id="667" name="Google Shape;667;p54"/>
          <p:cNvSpPr txBox="1"/>
          <p:nvPr/>
        </p:nvSpPr>
        <p:spPr>
          <a:xfrm>
            <a:off x="2238375" y="3936206"/>
            <a:ext cx="81438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4. Write a Good Description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Fill out the title (e.g., "Add login page") and a description of *what* you changed and *why*. Add reviewers.</a:t>
            </a:r>
            <a:endParaRPr/>
          </a:p>
        </p:txBody>
      </p:sp>
      <p:sp>
        <p:nvSpPr>
          <p:cNvPr id="668" name="Google Shape;668;p54"/>
          <p:cNvSpPr txBox="1"/>
          <p:nvPr/>
        </p:nvSpPr>
        <p:spPr>
          <a:xfrm>
            <a:off x="2238375" y="4941093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5. Click "Create pull request"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Your team is now notified to review your code.</a:t>
            </a:r>
            <a:endParaRPr/>
          </a:p>
        </p:txBody>
      </p:sp>
      <p:pic>
        <p:nvPicPr>
          <p:cNvPr id="669" name="Google Shape;669;p5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783556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0" name="Google Shape;670;p5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51698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1" name="Google Shape;671;p5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250406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2" name="Google Shape;672;p5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398383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73" name="Google Shape;673;p5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988718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674" name="Google Shape;674;p54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How to: Open a Pull Request</a:t>
            </a:r>
            <a:endParaRPr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9" name="Google Shape;679;p5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80" name="Google Shape;680;p5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733550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681" name="Google Shape;681;p55"/>
          <p:cNvSpPr txBox="1"/>
          <p:nvPr/>
        </p:nvSpPr>
        <p:spPr>
          <a:xfrm>
            <a:off x="581025" y="1733550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A Team Responsibility</a:t>
            </a:r>
            <a:endParaRPr/>
          </a:p>
        </p:txBody>
      </p:sp>
      <p:sp>
        <p:nvSpPr>
          <p:cNvPr id="682" name="Google Shape;682;p55"/>
          <p:cNvSpPr txBox="1"/>
          <p:nvPr/>
        </p:nvSpPr>
        <p:spPr>
          <a:xfrm>
            <a:off x="581025" y="2266950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Code reviews are how teams maintain quality and share knowledge. As a reviewer, you check for:</a:t>
            </a:r>
            <a:endParaRPr/>
          </a:p>
        </p:txBody>
      </p:sp>
      <p:sp>
        <p:nvSpPr>
          <p:cNvPr id="683" name="Google Shape;683;p55"/>
          <p:cNvSpPr txBox="1"/>
          <p:nvPr/>
        </p:nvSpPr>
        <p:spPr>
          <a:xfrm>
            <a:off x="581025" y="4148137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The "Files Changed" Tab</a:t>
            </a:r>
            <a:endParaRPr/>
          </a:p>
        </p:txBody>
      </p:sp>
      <p:sp>
        <p:nvSpPr>
          <p:cNvPr id="684" name="Google Shape;684;p55"/>
          <p:cNvSpPr txBox="1"/>
          <p:nvPr/>
        </p:nvSpPr>
        <p:spPr>
          <a:xfrm>
            <a:off x="581025" y="4681537"/>
            <a:ext cx="53244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This is where you see the "diff". You can click on any line to add a comment or suggestion. When you're done, you can "Approve", "Request changes", or "Comment".</a:t>
            </a:r>
            <a:endParaRPr/>
          </a:p>
        </p:txBody>
      </p:sp>
      <p:sp>
        <p:nvSpPr>
          <p:cNvPr id="685" name="Google Shape;685;p55"/>
          <p:cNvSpPr txBox="1"/>
          <p:nvPr/>
        </p:nvSpPr>
        <p:spPr>
          <a:xfrm>
            <a:off x="866775" y="2990850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Bugs or logic errors.</a:t>
            </a:r>
            <a:endParaRPr/>
          </a:p>
        </p:txBody>
      </p:sp>
      <p:sp>
        <p:nvSpPr>
          <p:cNvPr id="686" name="Google Shape;686;p55"/>
          <p:cNvSpPr txBox="1"/>
          <p:nvPr/>
        </p:nvSpPr>
        <p:spPr>
          <a:xfrm>
            <a:off x="866775" y="3376612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Readability and style.</a:t>
            </a:r>
            <a:endParaRPr/>
          </a:p>
        </p:txBody>
      </p:sp>
      <p:sp>
        <p:nvSpPr>
          <p:cNvPr id="687" name="Google Shape;687;p55"/>
          <p:cNvSpPr txBox="1"/>
          <p:nvPr/>
        </p:nvSpPr>
        <p:spPr>
          <a:xfrm>
            <a:off x="866775" y="3762375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Good test coverage.</a:t>
            </a:r>
            <a:endParaRPr/>
          </a:p>
        </p:txBody>
      </p:sp>
      <p:pic>
        <p:nvPicPr>
          <p:cNvPr id="688" name="Google Shape;688;p5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743075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689" name="Google Shape;689;p55"/>
          <p:cNvSpPr txBox="1"/>
          <p:nvPr/>
        </p:nvSpPr>
        <p:spPr>
          <a:xfrm>
            <a:off x="628650" y="2990850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690" name="Google Shape;690;p55"/>
          <p:cNvSpPr txBox="1"/>
          <p:nvPr/>
        </p:nvSpPr>
        <p:spPr>
          <a:xfrm>
            <a:off x="628650" y="3376612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691" name="Google Shape;691;p55"/>
          <p:cNvSpPr txBox="1"/>
          <p:nvPr/>
        </p:nvSpPr>
        <p:spPr>
          <a:xfrm>
            <a:off x="628650" y="3762375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692" name="Google Shape;692;p55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How to: Review a Pull Request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6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7" name="Google Shape;697;p5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8" name="Google Shape;698;p5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05050"/>
            <a:ext cx="34861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99" name="Google Shape;699;p5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05050"/>
            <a:ext cx="34861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0" name="Google Shape;700;p5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05050"/>
            <a:ext cx="348615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701" name="Google Shape;701;p56"/>
          <p:cNvSpPr txBox="1"/>
          <p:nvPr/>
        </p:nvSpPr>
        <p:spPr>
          <a:xfrm>
            <a:off x="1584007" y="3190875"/>
            <a:ext cx="1480185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Merge Commit</a:t>
            </a:r>
            <a:endParaRPr/>
          </a:p>
        </p:txBody>
      </p:sp>
      <p:sp>
        <p:nvSpPr>
          <p:cNvPr id="702" name="Google Shape;702;p56"/>
          <p:cNvSpPr txBox="1"/>
          <p:nvPr/>
        </p:nvSpPr>
        <p:spPr>
          <a:xfrm>
            <a:off x="876300" y="374332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default. This creates a 3-way merge commit, just like git merge. It preserves the exact history of the branch. (Good, but can be "noisy").</a:t>
            </a:r>
            <a:endParaRPr/>
          </a:p>
        </p:txBody>
      </p:sp>
      <p:sp>
        <p:nvSpPr>
          <p:cNvPr id="703" name="Google Shape;703;p56"/>
          <p:cNvSpPr txBox="1"/>
          <p:nvPr/>
        </p:nvSpPr>
        <p:spPr>
          <a:xfrm>
            <a:off x="5165883" y="3190875"/>
            <a:ext cx="1860232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Squash and Merge</a:t>
            </a:r>
            <a:endParaRPr/>
          </a:p>
        </p:txBody>
      </p:sp>
      <p:sp>
        <p:nvSpPr>
          <p:cNvPr id="704" name="Google Shape;704;p56"/>
          <p:cNvSpPr txBox="1"/>
          <p:nvPr/>
        </p:nvSpPr>
        <p:spPr>
          <a:xfrm>
            <a:off x="4648200" y="374332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Combines all of your feature branch's commits (e.g., "fix typo", "oops") into </a:t>
            </a:r>
            <a:r>
              <a:rPr lang="en-US" sz="12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one single commit</a:t>
            </a: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on main. This keeps the main history very clean.</a:t>
            </a:r>
            <a:endParaRPr/>
          </a:p>
        </p:txBody>
      </p:sp>
      <p:sp>
        <p:nvSpPr>
          <p:cNvPr id="705" name="Google Shape;705;p56"/>
          <p:cNvSpPr txBox="1"/>
          <p:nvPr/>
        </p:nvSpPr>
        <p:spPr>
          <a:xfrm>
            <a:off x="8942784" y="3190875"/>
            <a:ext cx="185023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Rebase and Merge</a:t>
            </a:r>
            <a:endParaRPr/>
          </a:p>
        </p:txBody>
      </p:sp>
      <p:sp>
        <p:nvSpPr>
          <p:cNvPr id="706" name="Google Shape;706;p56"/>
          <p:cNvSpPr txBox="1"/>
          <p:nvPr/>
        </p:nvSpPr>
        <p:spPr>
          <a:xfrm>
            <a:off x="8420100" y="374332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Re-plays your feature commits on top of main, then fast-forwards. This creates a perfectly linear history. (Clean, but advanced).</a:t>
            </a:r>
            <a:endParaRPr/>
          </a:p>
        </p:txBody>
      </p:sp>
      <p:pic>
        <p:nvPicPr>
          <p:cNvPr id="707" name="Google Shape;707;p5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7412" y="26193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5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26193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56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77400" y="2619375"/>
            <a:ext cx="381000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6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How to: Merge a Pull Request</a:t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7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5" name="Google Shape;715;p5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16" name="Google Shape;716;p57"/>
          <p:cNvSpPr txBox="1"/>
          <p:nvPr/>
        </p:nvSpPr>
        <p:spPr>
          <a:xfrm>
            <a:off x="1809750" y="1831181"/>
            <a:ext cx="8572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 are working on your PR, but your teammate just merged *their* PR. Your branch is now out-of-date. You must update it.</a:t>
            </a:r>
            <a:endParaRPr/>
          </a:p>
        </p:txBody>
      </p:sp>
      <p:sp>
        <p:nvSpPr>
          <p:cNvPr id="717" name="Google Shape;717;p57"/>
          <p:cNvSpPr txBox="1"/>
          <p:nvPr/>
        </p:nvSpPr>
        <p:spPr>
          <a:xfrm>
            <a:off x="2238375" y="2555081"/>
            <a:ext cx="81438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Get Latest main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checkout main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pull origin main</a:t>
            </a:r>
            <a:endParaRPr/>
          </a:p>
        </p:txBody>
      </p:sp>
      <p:sp>
        <p:nvSpPr>
          <p:cNvPr id="718" name="Google Shape;718;p57"/>
          <p:cNvSpPr txBox="1"/>
          <p:nvPr/>
        </p:nvSpPr>
        <p:spPr>
          <a:xfrm>
            <a:off x="2238375" y="3559968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Go Back to Your Branch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checkout my-feature</a:t>
            </a:r>
            <a:endParaRPr/>
          </a:p>
        </p:txBody>
      </p:sp>
      <p:sp>
        <p:nvSpPr>
          <p:cNvPr id="719" name="Google Shape;719;p57"/>
          <p:cNvSpPr txBox="1"/>
          <p:nvPr/>
        </p:nvSpPr>
        <p:spPr>
          <a:xfrm>
            <a:off x="2238375" y="4293393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Merge main into Your Branch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merge main (Fix any conflicts locally!)</a:t>
            </a:r>
            <a:endParaRPr/>
          </a:p>
        </p:txBody>
      </p:sp>
      <p:sp>
        <p:nvSpPr>
          <p:cNvPr id="720" name="Google Shape;720;p57"/>
          <p:cNvSpPr txBox="1"/>
          <p:nvPr/>
        </p:nvSpPr>
        <p:spPr>
          <a:xfrm>
            <a:off x="2238375" y="5026818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4. Push the Update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push origin my-feature (The PR updates automatically)</a:t>
            </a:r>
            <a:endParaRPr/>
          </a:p>
        </p:txBody>
      </p:sp>
      <p:pic>
        <p:nvPicPr>
          <p:cNvPr id="721" name="Google Shape;721;p5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602706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2" name="Google Shape;722;p5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607593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3" name="Google Shape;723;p5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341018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4" name="Google Shape;724;p57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5074443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7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Scenario: main Changed!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7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0" name="Google Shape;730;p5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1" name="Google Shape;731;p5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507331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732" name="Google Shape;732;p58"/>
          <p:cNvSpPr txBox="1"/>
          <p:nvPr/>
        </p:nvSpPr>
        <p:spPr>
          <a:xfrm>
            <a:off x="581025" y="1507331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When You Don't Have Write Access</a:t>
            </a:r>
            <a:endParaRPr/>
          </a:p>
        </p:txBody>
      </p:sp>
      <p:sp>
        <p:nvSpPr>
          <p:cNvPr id="733" name="Google Shape;733;p58"/>
          <p:cNvSpPr txBox="1"/>
          <p:nvPr/>
        </p:nvSpPr>
        <p:spPr>
          <a:xfrm>
            <a:off x="581025" y="2040731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 can't push to a project you don't own (like React or Linux). The solution is a "Fork".</a:t>
            </a:r>
            <a:endParaRPr/>
          </a:p>
        </p:txBody>
      </p:sp>
      <p:sp>
        <p:nvSpPr>
          <p:cNvPr id="734" name="Google Shape;734;p58"/>
          <p:cNvSpPr txBox="1"/>
          <p:nvPr/>
        </p:nvSpPr>
        <p:spPr>
          <a:xfrm>
            <a:off x="581025" y="2764631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Fork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is a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personal, server-side copy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of a repository. You have 100% control over your fork.</a:t>
            </a:r>
            <a:endParaRPr/>
          </a:p>
        </p:txBody>
      </p:sp>
      <p:sp>
        <p:nvSpPr>
          <p:cNvPr id="735" name="Google Shape;735;p58"/>
          <p:cNvSpPr txBox="1"/>
          <p:nvPr/>
        </p:nvSpPr>
        <p:spPr>
          <a:xfrm>
            <a:off x="581025" y="3488531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The Flow:</a:t>
            </a:r>
            <a:endParaRPr/>
          </a:p>
        </p:txBody>
      </p:sp>
      <p:sp>
        <p:nvSpPr>
          <p:cNvPr id="736" name="Google Shape;736;p58"/>
          <p:cNvSpPr txBox="1"/>
          <p:nvPr/>
        </p:nvSpPr>
        <p:spPr>
          <a:xfrm>
            <a:off x="1104900" y="4021931"/>
            <a:ext cx="48006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Fork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repo on GitHub (creates your-name/repo).</a:t>
            </a:r>
            <a:endParaRPr/>
          </a:p>
        </p:txBody>
      </p:sp>
      <p:sp>
        <p:nvSpPr>
          <p:cNvPr id="737" name="Google Shape;737;p58"/>
          <p:cNvSpPr txBox="1"/>
          <p:nvPr/>
        </p:nvSpPr>
        <p:spPr>
          <a:xfrm>
            <a:off x="1104900" y="4407693"/>
            <a:ext cx="48006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Clone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*your fork* (git clone ...).</a:t>
            </a:r>
            <a:endParaRPr/>
          </a:p>
        </p:txBody>
      </p:sp>
      <p:sp>
        <p:nvSpPr>
          <p:cNvPr id="738" name="Google Shape;738;p58"/>
          <p:cNvSpPr txBox="1"/>
          <p:nvPr/>
        </p:nvSpPr>
        <p:spPr>
          <a:xfrm>
            <a:off x="1104900" y="4793456"/>
            <a:ext cx="48006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Push changes to *your fork*.</a:t>
            </a:r>
            <a:endParaRPr/>
          </a:p>
        </p:txBody>
      </p:sp>
      <p:sp>
        <p:nvSpPr>
          <p:cNvPr id="739" name="Google Shape;739;p58"/>
          <p:cNvSpPr txBox="1"/>
          <p:nvPr/>
        </p:nvSpPr>
        <p:spPr>
          <a:xfrm>
            <a:off x="1104900" y="5179218"/>
            <a:ext cx="48006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Open a PR from *your fork* to the *original ("upstream") repo*.</a:t>
            </a:r>
            <a:endParaRPr/>
          </a:p>
        </p:txBody>
      </p:sp>
      <p:pic>
        <p:nvPicPr>
          <p:cNvPr id="740" name="Google Shape;740;p5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516856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741" name="Google Shape;741;p58"/>
          <p:cNvSpPr txBox="1"/>
          <p:nvPr/>
        </p:nvSpPr>
        <p:spPr>
          <a:xfrm>
            <a:off x="866775" y="4021931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742" name="Google Shape;742;p58"/>
          <p:cNvSpPr txBox="1"/>
          <p:nvPr/>
        </p:nvSpPr>
        <p:spPr>
          <a:xfrm>
            <a:off x="866775" y="4407693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743" name="Google Shape;743;p58"/>
          <p:cNvSpPr txBox="1"/>
          <p:nvPr/>
        </p:nvSpPr>
        <p:spPr>
          <a:xfrm>
            <a:off x="866775" y="4793456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744" name="Google Shape;744;p58"/>
          <p:cNvSpPr txBox="1"/>
          <p:nvPr/>
        </p:nvSpPr>
        <p:spPr>
          <a:xfrm>
            <a:off x="866775" y="5179218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745" name="Google Shape;745;p58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Forking Workflow (Open Source)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7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0" name="Google Shape;750;p5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51" name="Google Shape;751;p59"/>
          <p:cNvSpPr txBox="1"/>
          <p:nvPr/>
        </p:nvSpPr>
        <p:spPr>
          <a:xfrm>
            <a:off x="1809750" y="1414462"/>
            <a:ext cx="8572500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What if the original "upstream" repo changes? Your fork is now out-of-date. You need to sync it.</a:t>
            </a:r>
            <a:endParaRPr/>
          </a:p>
        </p:txBody>
      </p:sp>
      <p:sp>
        <p:nvSpPr>
          <p:cNvPr id="752" name="Google Shape;752;p59"/>
          <p:cNvSpPr txBox="1"/>
          <p:nvPr/>
        </p:nvSpPr>
        <p:spPr>
          <a:xfrm>
            <a:off x="2238375" y="1866900"/>
            <a:ext cx="814387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Add "Upstream" Remote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(You only do this once)</a:t>
            </a:r>
            <a:endParaRPr/>
          </a:p>
        </p:txBody>
      </p:sp>
      <p:sp>
        <p:nvSpPr>
          <p:cNvPr id="753" name="Google Shape;753;p59"/>
          <p:cNvSpPr txBox="1"/>
          <p:nvPr/>
        </p:nvSpPr>
        <p:spPr>
          <a:xfrm>
            <a:off x="2238375" y="3152775"/>
            <a:ext cx="8143875" cy="1095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Fetch from Upstream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This gets all the new commits from the original repo.</a:t>
            </a:r>
            <a:endParaRPr/>
          </a:p>
        </p:txBody>
      </p:sp>
      <p:sp>
        <p:nvSpPr>
          <p:cNvPr id="754" name="Google Shape;754;p59"/>
          <p:cNvSpPr txBox="1"/>
          <p:nvPr/>
        </p:nvSpPr>
        <p:spPr>
          <a:xfrm>
            <a:off x="2238375" y="4438650"/>
            <a:ext cx="81438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3. Merge into Your main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checkout main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merge upstream/main</a:t>
            </a:r>
            <a:endParaRPr/>
          </a:p>
        </p:txBody>
      </p:sp>
      <p:sp>
        <p:nvSpPr>
          <p:cNvPr id="755" name="Google Shape;755;p59"/>
          <p:cNvSpPr txBox="1"/>
          <p:nvPr/>
        </p:nvSpPr>
        <p:spPr>
          <a:xfrm>
            <a:off x="2238375" y="5443537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4. Push to Your Fork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push origin main (This updates *your* fork on GitHub)</a:t>
            </a:r>
            <a:endParaRPr/>
          </a:p>
        </p:txBody>
      </p:sp>
      <p:pic>
        <p:nvPicPr>
          <p:cNvPr id="756" name="Google Shape;756;p5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9145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7" name="Google Shape;757;p5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320040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8" name="Google Shape;758;p59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448627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59" name="Google Shape;759;p59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549116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60" name="Google Shape;760;p59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Quick Tip: Syncing Your Fork</a:t>
            </a:r>
            <a:endParaRPr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7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5" name="Google Shape;765;p6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66" name="Google Shape;766;p60"/>
          <p:cNvSpPr txBox="1"/>
          <p:nvPr/>
        </p:nvSpPr>
        <p:spPr>
          <a:xfrm>
            <a:off x="1809750" y="1543050"/>
            <a:ext cx="90011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Your Mission (Work in pairs!):</a:t>
            </a:r>
            <a:endParaRPr/>
          </a:p>
        </p:txBody>
      </p:sp>
      <p:sp>
        <p:nvSpPr>
          <p:cNvPr id="767" name="Google Shape;767;p60"/>
          <p:cNvSpPr txBox="1"/>
          <p:nvPr/>
        </p:nvSpPr>
        <p:spPr>
          <a:xfrm>
            <a:off x="2238375" y="2038350"/>
            <a:ext cx="8143875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Partner A: The Author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1. Create a new branch: git checkout -b fix-readme-typo.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2. Make a small change (fix a typo, add a line) to README.md.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3. Commit and git push origin fix-readme-typo.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4. Go to GitHub, open a Pull Request, and assign Partner B as the reviewer.</a:t>
            </a:r>
            <a:endParaRPr/>
          </a:p>
        </p:txBody>
      </p:sp>
      <p:sp>
        <p:nvSpPr>
          <p:cNvPr id="768" name="Google Shape;768;p60"/>
          <p:cNvSpPr txBox="1"/>
          <p:nvPr/>
        </p:nvSpPr>
        <p:spPr>
          <a:xfrm>
            <a:off x="2238375" y="3586162"/>
            <a:ext cx="8143875" cy="1357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Partner B: The Reviewer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1. Go to the Pull Request page on GitHub.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2. Go to the "Files Changed" tab.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3. Click on a line and add a comment (e.g., "Good catch!").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4. Go back to "Conversation" and "Approve" the PR.</a:t>
            </a:r>
            <a:endParaRPr/>
          </a:p>
        </p:txBody>
      </p:sp>
      <p:sp>
        <p:nvSpPr>
          <p:cNvPr id="769" name="Google Shape;769;p60"/>
          <p:cNvSpPr txBox="1"/>
          <p:nvPr/>
        </p:nvSpPr>
        <p:spPr>
          <a:xfrm>
            <a:off x="2238375" y="5133975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Partner A: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Merge your own PR (click the green "Merge" button).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Both: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git checkout main and git pull to get the change!</a:t>
            </a:r>
            <a:endParaRPr/>
          </a:p>
        </p:txBody>
      </p:sp>
      <p:pic>
        <p:nvPicPr>
          <p:cNvPr id="770" name="Google Shape;770;p6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5181600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771" name="Google Shape;771;p60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4 Workshop (15 min)</a:t>
            </a:r>
            <a:endParaRPr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6" name="Google Shape;776;p6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77" name="Google Shape;777;p61"/>
          <p:cNvSpPr txBox="1"/>
          <p:nvPr/>
        </p:nvSpPr>
        <p:spPr>
          <a:xfrm>
            <a:off x="305276" y="2876550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4: Questions?</a:t>
            </a:r>
            <a:endParaRPr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2" name="Google Shape;782;p6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83" name="Google Shape;783;p62"/>
          <p:cNvSpPr/>
          <p:nvPr/>
        </p:nvSpPr>
        <p:spPr>
          <a:xfrm>
            <a:off x="5619750" y="2795587"/>
            <a:ext cx="952500" cy="47625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4" name="Google Shape;784;p62"/>
          <p:cNvSpPr txBox="1"/>
          <p:nvPr/>
        </p:nvSpPr>
        <p:spPr>
          <a:xfrm>
            <a:off x="990361" y="3128962"/>
            <a:ext cx="10211276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5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5: Advanced Tools &amp; Good Habits</a:t>
            </a:r>
            <a:endParaRPr/>
          </a:p>
        </p:txBody>
      </p:sp>
      <p:sp>
        <p:nvSpPr>
          <p:cNvPr id="785" name="Google Shape;785;p62"/>
          <p:cNvSpPr txBox="1"/>
          <p:nvPr/>
        </p:nvSpPr>
        <p:spPr>
          <a:xfrm>
            <a:off x="3619500" y="4005262"/>
            <a:ext cx="49530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Stashing, Rebasing, and Keeping Your Repo Clean</a:t>
            </a:r>
            <a:endParaRPr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7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0" name="Google Shape;790;p6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791" name="Google Shape;791;p63"/>
          <p:cNvSpPr txBox="1"/>
          <p:nvPr/>
        </p:nvSpPr>
        <p:spPr>
          <a:xfrm>
            <a:off x="2238375" y="2319337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Ignoring Files: .gitignore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792" name="Google Shape;792;p63"/>
          <p:cNvSpPr txBox="1"/>
          <p:nvPr/>
        </p:nvSpPr>
        <p:spPr>
          <a:xfrm>
            <a:off x="2238375" y="2781300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Saving Work: git stash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793" name="Google Shape;793;p63"/>
          <p:cNvSpPr txBox="1"/>
          <p:nvPr/>
        </p:nvSpPr>
        <p:spPr>
          <a:xfrm>
            <a:off x="2238375" y="3243262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Cleaning History: git rebase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794" name="Google Shape;794;p63"/>
          <p:cNvSpPr txBox="1"/>
          <p:nvPr/>
        </p:nvSpPr>
        <p:spPr>
          <a:xfrm>
            <a:off x="2238375" y="3705225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Undoing Commits: reset vs. revert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(10 min)</a:t>
            </a:r>
            <a:endParaRPr/>
          </a:p>
        </p:txBody>
      </p:sp>
      <p:sp>
        <p:nvSpPr>
          <p:cNvPr id="795" name="Google Shape;795;p63"/>
          <p:cNvSpPr txBox="1"/>
          <p:nvPr/>
        </p:nvSpPr>
        <p:spPr>
          <a:xfrm>
            <a:off x="2238375" y="4167187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Good Git Habits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(5 min)</a:t>
            </a:r>
            <a:endParaRPr/>
          </a:p>
        </p:txBody>
      </p:sp>
      <p:sp>
        <p:nvSpPr>
          <p:cNvPr id="796" name="Google Shape;796;p63"/>
          <p:cNvSpPr txBox="1"/>
          <p:nvPr/>
        </p:nvSpPr>
        <p:spPr>
          <a:xfrm>
            <a:off x="2238375" y="4629150"/>
            <a:ext cx="81438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Workshop &amp; Q&amp;A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(15 min)</a:t>
            </a:r>
            <a:endParaRPr/>
          </a:p>
        </p:txBody>
      </p:sp>
      <p:pic>
        <p:nvPicPr>
          <p:cNvPr id="797" name="Google Shape;797;p6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3669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8" name="Google Shape;798;p6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828925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9" name="Google Shape;799;p6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2908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0" name="Google Shape;800;p6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3752850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1" name="Google Shape;801;p6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2148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2" name="Google Shape;802;p63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1809750" y="4676775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03" name="Google Shape;803;p63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5 Agenda (1 Hour)</a:t>
            </a:r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8" name="Google Shape;808;p6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9" name="Google Shape;809;p6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435893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10" name="Google Shape;810;p64"/>
          <p:cNvSpPr txBox="1"/>
          <p:nvPr/>
        </p:nvSpPr>
        <p:spPr>
          <a:xfrm>
            <a:off x="581025" y="1435893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What is it?</a:t>
            </a:r>
            <a:endParaRPr/>
          </a:p>
        </p:txBody>
      </p:sp>
      <p:sp>
        <p:nvSpPr>
          <p:cNvPr id="811" name="Google Shape;811;p64"/>
          <p:cNvSpPr txBox="1"/>
          <p:nvPr/>
        </p:nvSpPr>
        <p:spPr>
          <a:xfrm>
            <a:off x="581025" y="1969293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 plain text file named .gitignore that tells Git which files and folders to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ignore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812" name="Google Shape;812;p64"/>
          <p:cNvSpPr txBox="1"/>
          <p:nvPr/>
        </p:nvSpPr>
        <p:spPr>
          <a:xfrm>
            <a:off x="581025" y="2693193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Ignored files won't show up in git status and can't be added with git add ..</a:t>
            </a:r>
            <a:endParaRPr/>
          </a:p>
        </p:txBody>
      </p:sp>
      <p:sp>
        <p:nvSpPr>
          <p:cNvPr id="813" name="Google Shape;813;p64"/>
          <p:cNvSpPr txBox="1"/>
          <p:nvPr/>
        </p:nvSpPr>
        <p:spPr>
          <a:xfrm>
            <a:off x="581025" y="3417093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What to Ignore?</a:t>
            </a:r>
            <a:endParaRPr/>
          </a:p>
        </p:txBody>
      </p:sp>
      <p:sp>
        <p:nvSpPr>
          <p:cNvPr id="814" name="Google Shape;814;p64"/>
          <p:cNvSpPr txBox="1"/>
          <p:nvPr/>
        </p:nvSpPr>
        <p:spPr>
          <a:xfrm>
            <a:off x="581025" y="5522118"/>
            <a:ext cx="53244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Rule: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If it can be generated, it shouldn't be in Git.</a:t>
            </a:r>
            <a:endParaRPr/>
          </a:p>
        </p:txBody>
      </p:sp>
      <p:sp>
        <p:nvSpPr>
          <p:cNvPr id="815" name="Google Shape;815;p64"/>
          <p:cNvSpPr txBox="1"/>
          <p:nvPr/>
        </p:nvSpPr>
        <p:spPr>
          <a:xfrm>
            <a:off x="866775" y="3912393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Dependencies: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node_modules/</a:t>
            </a:r>
            <a:endParaRPr/>
          </a:p>
        </p:txBody>
      </p:sp>
      <p:sp>
        <p:nvSpPr>
          <p:cNvPr id="816" name="Google Shape;816;p64"/>
          <p:cNvSpPr txBox="1"/>
          <p:nvPr/>
        </p:nvSpPr>
        <p:spPr>
          <a:xfrm>
            <a:off x="866775" y="4298156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Secrets: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.env, keys.json</a:t>
            </a:r>
            <a:endParaRPr/>
          </a:p>
        </p:txBody>
      </p:sp>
      <p:sp>
        <p:nvSpPr>
          <p:cNvPr id="817" name="Google Shape;817;p64"/>
          <p:cNvSpPr txBox="1"/>
          <p:nvPr/>
        </p:nvSpPr>
        <p:spPr>
          <a:xfrm>
            <a:off x="866775" y="4683918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Build Output: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/build, /dist</a:t>
            </a:r>
            <a:endParaRPr/>
          </a:p>
        </p:txBody>
      </p:sp>
      <p:sp>
        <p:nvSpPr>
          <p:cNvPr id="818" name="Google Shape;818;p64"/>
          <p:cNvSpPr txBox="1"/>
          <p:nvPr/>
        </p:nvSpPr>
        <p:spPr>
          <a:xfrm>
            <a:off x="866775" y="5069681"/>
            <a:ext cx="503872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OS Files: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.DS_Store, Thumbs.db</a:t>
            </a:r>
            <a:endParaRPr/>
          </a:p>
        </p:txBody>
      </p:sp>
      <p:pic>
        <p:nvPicPr>
          <p:cNvPr id="819" name="Google Shape;819;p6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445418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20" name="Google Shape;820;p64"/>
          <p:cNvSpPr txBox="1"/>
          <p:nvPr/>
        </p:nvSpPr>
        <p:spPr>
          <a:xfrm>
            <a:off x="628650" y="3912393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821" name="Google Shape;821;p64"/>
          <p:cNvSpPr txBox="1"/>
          <p:nvPr/>
        </p:nvSpPr>
        <p:spPr>
          <a:xfrm>
            <a:off x="628650" y="4298156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822" name="Google Shape;822;p64"/>
          <p:cNvSpPr txBox="1"/>
          <p:nvPr/>
        </p:nvSpPr>
        <p:spPr>
          <a:xfrm>
            <a:off x="628650" y="4683918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823" name="Google Shape;823;p64"/>
          <p:cNvSpPr txBox="1"/>
          <p:nvPr/>
        </p:nvSpPr>
        <p:spPr>
          <a:xfrm>
            <a:off x="628650" y="5069681"/>
            <a:ext cx="19050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10" b="0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➔</a:t>
            </a:r>
            <a:endParaRPr/>
          </a:p>
        </p:txBody>
      </p:sp>
      <p:sp>
        <p:nvSpPr>
          <p:cNvPr id="824" name="Google Shape;824;p64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Ignoring Files: .gitignore</a:t>
            </a:r>
            <a:endParaRPr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29" name="Google Shape;829;p6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30" name="Google Shape;830;p6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243137"/>
            <a:ext cx="5324475" cy="2924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31" name="Google Shape;831;p6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86500" y="2243137"/>
            <a:ext cx="5324475" cy="2924175"/>
          </a:xfrm>
          <a:prstGeom prst="rect">
            <a:avLst/>
          </a:prstGeom>
          <a:noFill/>
          <a:ln>
            <a:noFill/>
          </a:ln>
        </p:spPr>
      </p:pic>
      <p:sp>
        <p:nvSpPr>
          <p:cNvPr id="832" name="Google Shape;832;p65"/>
          <p:cNvSpPr txBox="1"/>
          <p:nvPr/>
        </p:nvSpPr>
        <p:spPr>
          <a:xfrm>
            <a:off x="876300" y="2538412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Problem</a:t>
            </a:r>
            <a:endParaRPr/>
          </a:p>
        </p:txBody>
      </p:sp>
      <p:sp>
        <p:nvSpPr>
          <p:cNvPr id="833" name="Google Shape;833;p65"/>
          <p:cNvSpPr txBox="1"/>
          <p:nvPr/>
        </p:nvSpPr>
        <p:spPr>
          <a:xfrm>
            <a:off x="876300" y="2986087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You're in the middle of a feature, but your code is broken. Your boss runs over: "URGENT! Fix a typo on main!"</a:t>
            </a:r>
            <a:endParaRPr/>
          </a:p>
        </p:txBody>
      </p:sp>
      <p:sp>
        <p:nvSpPr>
          <p:cNvPr id="834" name="Google Shape;834;p65"/>
          <p:cNvSpPr txBox="1"/>
          <p:nvPr/>
        </p:nvSpPr>
        <p:spPr>
          <a:xfrm>
            <a:off x="876300" y="3671887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 can't commit broken code, and you don't want to lose your changes. What do you do?</a:t>
            </a:r>
            <a:endParaRPr/>
          </a:p>
        </p:txBody>
      </p:sp>
      <p:sp>
        <p:nvSpPr>
          <p:cNvPr id="835" name="Google Shape;835;p65"/>
          <p:cNvSpPr txBox="1"/>
          <p:nvPr/>
        </p:nvSpPr>
        <p:spPr>
          <a:xfrm>
            <a:off x="6581775" y="2538412"/>
            <a:ext cx="4970621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38BDF8"/>
                </a:solidFill>
                <a:latin typeface="Urbanist"/>
                <a:ea typeface="Urbanist"/>
                <a:cs typeface="Urbanist"/>
                <a:sym typeface="Urbanist"/>
              </a:rPr>
              <a:t>The Solution: git stash</a:t>
            </a:r>
            <a:endParaRPr/>
          </a:p>
        </p:txBody>
      </p:sp>
      <p:sp>
        <p:nvSpPr>
          <p:cNvPr id="836" name="Google Shape;836;p65"/>
          <p:cNvSpPr txBox="1"/>
          <p:nvPr/>
        </p:nvSpPr>
        <p:spPr>
          <a:xfrm>
            <a:off x="6581775" y="2986087"/>
            <a:ext cx="4733925" cy="514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Stash saves your "dirty" working directory (uncommitted changes) and gives you a clean slate.</a:t>
            </a:r>
            <a:endParaRPr/>
          </a:p>
        </p:txBody>
      </p:sp>
      <p:sp>
        <p:nvSpPr>
          <p:cNvPr id="837" name="Google Shape;837;p65"/>
          <p:cNvSpPr txBox="1"/>
          <p:nvPr/>
        </p:nvSpPr>
        <p:spPr>
          <a:xfrm>
            <a:off x="6581775" y="3671887"/>
            <a:ext cx="4733925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25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stash (Save changes)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checkout main (Fix bug, commit)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checkout my-feature (Go back)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35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stash pop (Get changes back!)</a:t>
            </a:r>
            <a:endParaRPr/>
          </a:p>
        </p:txBody>
      </p:sp>
      <p:sp>
        <p:nvSpPr>
          <p:cNvPr id="838" name="Google Shape;838;p65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git stash: Save for Later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3" name="Google Shape;843;p6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4" name="Google Shape;844;p6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86500" y="1800225"/>
            <a:ext cx="532447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5" name="Google Shape;845;p66"/>
          <p:cNvSpPr txBox="1"/>
          <p:nvPr/>
        </p:nvSpPr>
        <p:spPr>
          <a:xfrm>
            <a:off x="581025" y="1800225"/>
            <a:ext cx="5590698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rebase vs. merge</a:t>
            </a:r>
            <a:endParaRPr/>
          </a:p>
        </p:txBody>
      </p:sp>
      <p:sp>
        <p:nvSpPr>
          <p:cNvPr id="846" name="Google Shape;846;p66"/>
          <p:cNvSpPr txBox="1"/>
          <p:nvPr/>
        </p:nvSpPr>
        <p:spPr>
          <a:xfrm>
            <a:off x="581025" y="2333625"/>
            <a:ext cx="53244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merge main (from Day 4) is one way to update your branch. It creates a merge commit.</a:t>
            </a:r>
            <a:endParaRPr/>
          </a:p>
        </p:txBody>
      </p:sp>
      <p:sp>
        <p:nvSpPr>
          <p:cNvPr id="847" name="Google Shape;847;p66"/>
          <p:cNvSpPr txBox="1"/>
          <p:nvPr/>
        </p:nvSpPr>
        <p:spPr>
          <a:xfrm>
            <a:off x="581025" y="3057525"/>
            <a:ext cx="5324475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rebase main is another way. It </a:t>
            </a: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rewrites your history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It takes your branch's commits, moves them to the side, pulls in main's new commits, and then "re-plays" your commits one-by-one on top.</a:t>
            </a:r>
            <a:endParaRPr/>
          </a:p>
        </p:txBody>
      </p:sp>
      <p:sp>
        <p:nvSpPr>
          <p:cNvPr id="848" name="Google Shape;848;p66"/>
          <p:cNvSpPr txBox="1"/>
          <p:nvPr/>
        </p:nvSpPr>
        <p:spPr>
          <a:xfrm>
            <a:off x="581025" y="4324350"/>
            <a:ext cx="5324475" cy="271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Result: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 perfectly clean, linear history. No merge commits.</a:t>
            </a:r>
            <a:endParaRPr/>
          </a:p>
        </p:txBody>
      </p:sp>
      <p:pic>
        <p:nvPicPr>
          <p:cNvPr id="849" name="Google Shape;849;p6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296025" y="1809750"/>
            <a:ext cx="5305425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850" name="Google Shape;850;p66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git rebase: A Cleaner History</a:t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5" name="Google Shape;855;p6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6" name="Google Shape;856;p67"/>
          <p:cNvSpPr txBox="1"/>
          <p:nvPr/>
        </p:nvSpPr>
        <p:spPr>
          <a:xfrm>
            <a:off x="2064990" y="2323207"/>
            <a:ext cx="8061870" cy="117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0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DO NOT rebase commits that exist on a public, shared branch.</a:t>
            </a:r>
            <a:endParaRPr/>
          </a:p>
        </p:txBody>
      </p:sp>
      <p:sp>
        <p:nvSpPr>
          <p:cNvPr id="857" name="Google Shape;857;p67"/>
          <p:cNvSpPr txBox="1"/>
          <p:nvPr/>
        </p:nvSpPr>
        <p:spPr>
          <a:xfrm>
            <a:off x="4486126" y="3782317"/>
            <a:ext cx="32194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— Every Git Developer, Everywhere</a:t>
            </a:r>
            <a:endParaRPr/>
          </a:p>
        </p:txBody>
      </p:sp>
      <p:sp>
        <p:nvSpPr>
          <p:cNvPr id="858" name="Google Shape;858;p67"/>
          <p:cNvSpPr txBox="1"/>
          <p:nvPr/>
        </p:nvSpPr>
        <p:spPr>
          <a:xfrm>
            <a:off x="1683990" y="4325242"/>
            <a:ext cx="882387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Rebasing rewrites history. If you rebase main, you will destroy the repo for everyone else. Only rebase </a:t>
            </a:r>
            <a:r>
              <a:rPr lang="en-US" sz="15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your own local branches</a:t>
            </a:r>
            <a:r>
              <a:rPr lang="en-US" sz="15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before you share them in a PR.</a:t>
            </a:r>
            <a:endParaRPr/>
          </a:p>
        </p:txBody>
      </p:sp>
      <p:sp>
        <p:nvSpPr>
          <p:cNvPr id="859" name="Google Shape;859;p67"/>
          <p:cNvSpPr txBox="1"/>
          <p:nvPr/>
        </p:nvSpPr>
        <p:spPr>
          <a:xfrm>
            <a:off x="1588740" y="2608957"/>
            <a:ext cx="2476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/>
          </a:p>
        </p:txBody>
      </p:sp>
      <p:sp>
        <p:nvSpPr>
          <p:cNvPr id="860" name="Google Shape;860;p67"/>
          <p:cNvSpPr txBox="1"/>
          <p:nvPr/>
        </p:nvSpPr>
        <p:spPr>
          <a:xfrm>
            <a:off x="10355464" y="3401322"/>
            <a:ext cx="2476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7500" b="0" i="0" u="none" strike="noStrike" cap="none">
                <a:solidFill>
                  <a:srgbClr val="334155"/>
                </a:solidFill>
                <a:latin typeface="Urbanist"/>
                <a:ea typeface="Urbanist"/>
                <a:cs typeface="Urbanist"/>
                <a:sym typeface="Urbanist"/>
              </a:rPr>
              <a:t>"</a:t>
            </a:r>
            <a:endParaRPr/>
          </a:p>
        </p:txBody>
      </p:sp>
      <p:sp>
        <p:nvSpPr>
          <p:cNvPr id="861" name="Google Shape;861;p67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Golden Rule of Rebasing</a:t>
            </a:r>
            <a:endParaRPr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66" name="Google Shape;866;p6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7" name="Google Shape;867;p6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305050"/>
            <a:ext cx="34861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8" name="Google Shape;868;p6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305050"/>
            <a:ext cx="3486150" cy="2800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9" name="Google Shape;869;p68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305050"/>
            <a:ext cx="3486150" cy="2800350"/>
          </a:xfrm>
          <a:prstGeom prst="rect">
            <a:avLst/>
          </a:prstGeom>
          <a:noFill/>
          <a:ln>
            <a:noFill/>
          </a:ln>
        </p:spPr>
      </p:pic>
      <p:sp>
        <p:nvSpPr>
          <p:cNvPr id="870" name="Google Shape;870;p68"/>
          <p:cNvSpPr txBox="1"/>
          <p:nvPr/>
        </p:nvSpPr>
        <p:spPr>
          <a:xfrm>
            <a:off x="1884045" y="3190875"/>
            <a:ext cx="88011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--soft</a:t>
            </a:r>
            <a:endParaRPr/>
          </a:p>
        </p:txBody>
      </p:sp>
      <p:sp>
        <p:nvSpPr>
          <p:cNvPr id="871" name="Google Shape;871;p68"/>
          <p:cNvSpPr txBox="1"/>
          <p:nvPr/>
        </p:nvSpPr>
        <p:spPr>
          <a:xfrm>
            <a:off x="876300" y="374332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reset --soft HEAD~1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Undoes your last </a:t>
            </a:r>
            <a:r>
              <a:rPr lang="en-US" sz="12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commit</a:t>
            </a: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, but leaves the changes in your </a:t>
            </a:r>
            <a:r>
              <a:rPr lang="en-US" sz="12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Staging Area</a:t>
            </a: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 (Good for "oops, I forgot a file").</a:t>
            </a:r>
            <a:endParaRPr/>
          </a:p>
        </p:txBody>
      </p:sp>
      <p:sp>
        <p:nvSpPr>
          <p:cNvPr id="872" name="Google Shape;872;p68"/>
          <p:cNvSpPr txBox="1"/>
          <p:nvPr/>
        </p:nvSpPr>
        <p:spPr>
          <a:xfrm>
            <a:off x="5130879" y="3190875"/>
            <a:ext cx="1930241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--mixed (default)</a:t>
            </a:r>
            <a:endParaRPr/>
          </a:p>
        </p:txBody>
      </p:sp>
      <p:sp>
        <p:nvSpPr>
          <p:cNvPr id="873" name="Google Shape;873;p68"/>
          <p:cNvSpPr txBox="1"/>
          <p:nvPr/>
        </p:nvSpPr>
        <p:spPr>
          <a:xfrm>
            <a:off x="4648200" y="374332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reset HEAD~1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Undoes your last </a:t>
            </a:r>
            <a:r>
              <a:rPr lang="en-US" sz="12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commit</a:t>
            </a: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lang="en-US" sz="12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un-stages</a:t>
            </a: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the files, leaving them in your </a:t>
            </a:r>
            <a:r>
              <a:rPr lang="en-US" sz="12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Working Directory</a:t>
            </a: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.</a:t>
            </a:r>
            <a:endParaRPr/>
          </a:p>
        </p:txBody>
      </p:sp>
      <p:sp>
        <p:nvSpPr>
          <p:cNvPr id="874" name="Google Shape;874;p68"/>
          <p:cNvSpPr txBox="1"/>
          <p:nvPr/>
        </p:nvSpPr>
        <p:spPr>
          <a:xfrm>
            <a:off x="8667750" y="3190875"/>
            <a:ext cx="240030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--hard (DANGEROUS)</a:t>
            </a:r>
            <a:endParaRPr/>
          </a:p>
        </p:txBody>
      </p:sp>
      <p:sp>
        <p:nvSpPr>
          <p:cNvPr id="875" name="Google Shape;875;p68"/>
          <p:cNvSpPr txBox="1"/>
          <p:nvPr/>
        </p:nvSpPr>
        <p:spPr>
          <a:xfrm>
            <a:off x="8420100" y="3743325"/>
            <a:ext cx="2895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reset --hard HEAD~1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Undoes your last </a:t>
            </a:r>
            <a:r>
              <a:rPr lang="en-US" sz="12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commit</a:t>
            </a: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and </a:t>
            </a:r>
            <a:r>
              <a:rPr lang="en-US" sz="1200" b="1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DELETES</a:t>
            </a: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all changes. There is no undo. (Use with extreme caution).</a:t>
            </a:r>
            <a:endParaRPr/>
          </a:p>
        </p:txBody>
      </p:sp>
      <p:pic>
        <p:nvPicPr>
          <p:cNvPr id="876" name="Google Shape;876;p68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157412" y="2619375"/>
            <a:ext cx="33337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7" name="Google Shape;877;p68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81687" y="261937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78" name="Google Shape;878;p68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701212" y="2619375"/>
            <a:ext cx="33337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879" name="Google Shape;879;p68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git reset: The Time Machine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4" name="Google Shape;884;p6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85" name="Google Shape;885;p69"/>
          <p:cNvSpPr txBox="1"/>
          <p:nvPr/>
        </p:nvSpPr>
        <p:spPr>
          <a:xfrm>
            <a:off x="1809750" y="2316956"/>
            <a:ext cx="8572500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reset changes history. It's bad to use on a public branch. What if you need to undo a bad commit on main?</a:t>
            </a:r>
            <a:endParaRPr/>
          </a:p>
        </p:txBody>
      </p:sp>
      <p:sp>
        <p:nvSpPr>
          <p:cNvPr id="886" name="Google Shape;886;p69"/>
          <p:cNvSpPr txBox="1"/>
          <p:nvPr/>
        </p:nvSpPr>
        <p:spPr>
          <a:xfrm>
            <a:off x="1809750" y="3040856"/>
            <a:ext cx="90011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Use git revert!</a:t>
            </a:r>
            <a:endParaRPr/>
          </a:p>
        </p:txBody>
      </p:sp>
      <p:sp>
        <p:nvSpPr>
          <p:cNvPr id="887" name="Google Shape;887;p69"/>
          <p:cNvSpPr txBox="1"/>
          <p:nvPr/>
        </p:nvSpPr>
        <p:spPr>
          <a:xfrm>
            <a:off x="2238375" y="3536156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A "Forward-Facing" Undo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 revert  does not delete history.</a:t>
            </a:r>
            <a:endParaRPr/>
          </a:p>
        </p:txBody>
      </p:sp>
      <p:sp>
        <p:nvSpPr>
          <p:cNvPr id="888" name="Google Shape;888;p69"/>
          <p:cNvSpPr txBox="1"/>
          <p:nvPr/>
        </p:nvSpPr>
        <p:spPr>
          <a:xfrm>
            <a:off x="2238375" y="4269581"/>
            <a:ext cx="8143875" cy="8143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Creates a New Commit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It creates a </a:t>
            </a: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brand new commit</a:t>
            </a: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that does the exact opposite of the bad commit. This is safe to push to a shared branch.</a:t>
            </a:r>
            <a:endParaRPr/>
          </a:p>
        </p:txBody>
      </p:sp>
      <p:pic>
        <p:nvPicPr>
          <p:cNvPr id="889" name="Google Shape;889;p69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3583781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0" name="Google Shape;890;p69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317206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891" name="Google Shape;891;p69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The Safe Undo: git revert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6" name="Google Shape;896;p7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97" name="Google Shape;897;p70"/>
          <p:cNvSpPr txBox="1"/>
          <p:nvPr/>
        </p:nvSpPr>
        <p:spPr>
          <a:xfrm>
            <a:off x="2238375" y="1871662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Commit Small, Commit Often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Don't wait all day to make one giant commit. Make small, logical commits.</a:t>
            </a:r>
            <a:endParaRPr/>
          </a:p>
        </p:txBody>
      </p:sp>
      <p:sp>
        <p:nvSpPr>
          <p:cNvPr id="898" name="Google Shape;898;p70"/>
          <p:cNvSpPr txBox="1"/>
          <p:nvPr/>
        </p:nvSpPr>
        <p:spPr>
          <a:xfrm>
            <a:off x="2238375" y="2605087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Write Good Commit Messages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Not "stuff" or "changes". Write "Feat: Add login validation" or "Fix: Correct typo in footer".</a:t>
            </a:r>
            <a:endParaRPr/>
          </a:p>
        </p:txBody>
      </p:sp>
      <p:sp>
        <p:nvSpPr>
          <p:cNvPr id="899" name="Google Shape;899;p70"/>
          <p:cNvSpPr txBox="1"/>
          <p:nvPr/>
        </p:nvSpPr>
        <p:spPr>
          <a:xfrm>
            <a:off x="2238375" y="3338512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Pull Before You Push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Always run git pull before you git push to avoid conflicts.</a:t>
            </a:r>
            <a:endParaRPr/>
          </a:p>
        </p:txBody>
      </p:sp>
      <p:sp>
        <p:nvSpPr>
          <p:cNvPr id="900" name="Google Shape;900;p70"/>
          <p:cNvSpPr txBox="1"/>
          <p:nvPr/>
        </p:nvSpPr>
        <p:spPr>
          <a:xfrm>
            <a:off x="2238375" y="4071937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Branch for Everything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Never commit directly to main. Ever.</a:t>
            </a:r>
            <a:endParaRPr/>
          </a:p>
        </p:txBody>
      </p:sp>
      <p:sp>
        <p:nvSpPr>
          <p:cNvPr id="901" name="Google Shape;901;p70"/>
          <p:cNvSpPr txBox="1"/>
          <p:nvPr/>
        </p:nvSpPr>
        <p:spPr>
          <a:xfrm>
            <a:off x="2238375" y="4805362"/>
            <a:ext cx="8143875" cy="542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Don't Commit Broken Code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Your branch should always be in a working state. Use git stash if it's not.</a:t>
            </a:r>
            <a:endParaRPr/>
          </a:p>
        </p:txBody>
      </p:sp>
      <p:pic>
        <p:nvPicPr>
          <p:cNvPr id="902" name="Google Shape;902;p7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19192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3" name="Google Shape;903;p70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265271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4" name="Google Shape;904;p70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809750" y="338613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5" name="Google Shape;905;p70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809750" y="4119562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6" name="Google Shape;906;p70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1809750" y="4852987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07" name="Google Shape;907;p70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Good Git Habits</a:t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2" name="Google Shape;912;p7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13" name="Google Shape;913;p71"/>
          <p:cNvSpPr txBox="1"/>
          <p:nvPr/>
        </p:nvSpPr>
        <p:spPr>
          <a:xfrm>
            <a:off x="1809750" y="1909762"/>
            <a:ext cx="9001125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50" b="1" i="0" u="none" strike="noStrike" cap="none">
                <a:solidFill>
                  <a:srgbClr val="93C5FD"/>
                </a:solidFill>
                <a:latin typeface="Urbanist"/>
                <a:ea typeface="Urbanist"/>
                <a:cs typeface="Urbanist"/>
                <a:sym typeface="Urbanist"/>
              </a:rPr>
              <a:t>Your Mission:</a:t>
            </a:r>
            <a:endParaRPr/>
          </a:p>
        </p:txBody>
      </p:sp>
      <p:sp>
        <p:nvSpPr>
          <p:cNvPr id="914" name="Google Shape;914;p71"/>
          <p:cNvSpPr txBox="1"/>
          <p:nvPr/>
        </p:nvSpPr>
        <p:spPr>
          <a:xfrm>
            <a:off x="2238375" y="2405062"/>
            <a:ext cx="8143875" cy="16287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1. Use .gitignore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1. Create a file .gitignore.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2. Inside it, add a new line: *.log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3. Create a file test.log.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4. Run git status. Notice that test.log doesn't show up! (But .gitignore does).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5. git add .gitignore and commit it.</a:t>
            </a:r>
            <a:endParaRPr/>
          </a:p>
        </p:txBody>
      </p:sp>
      <p:sp>
        <p:nvSpPr>
          <p:cNvPr id="915" name="Google Shape;915;p71"/>
          <p:cNvSpPr txBox="1"/>
          <p:nvPr/>
        </p:nvSpPr>
        <p:spPr>
          <a:xfrm>
            <a:off x="2238375" y="4224337"/>
            <a:ext cx="8143875" cy="1085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8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25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2. Use git stash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1. Edit README.md but do not commit it.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2. Run git stash. See your changes disappear!</a:t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142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3. Run git stash pop. See your changes come back!</a:t>
            </a:r>
            <a:endParaRPr/>
          </a:p>
        </p:txBody>
      </p:sp>
      <p:pic>
        <p:nvPicPr>
          <p:cNvPr id="916" name="Google Shape;916;p7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809750" y="2452687"/>
            <a:ext cx="28575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7" name="Google Shape;917;p7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809750" y="4271962"/>
            <a:ext cx="285750" cy="228600"/>
          </a:xfrm>
          <a:prstGeom prst="rect">
            <a:avLst/>
          </a:prstGeom>
          <a:noFill/>
          <a:ln>
            <a:noFill/>
          </a:ln>
        </p:spPr>
      </p:pic>
      <p:sp>
        <p:nvSpPr>
          <p:cNvPr id="918" name="Google Shape;918;p71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5 Workshop (15 min)</a:t>
            </a:r>
            <a:endParaRPr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3" name="Google Shape;923;p7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4" name="Google Shape;924;p7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025" y="2190750"/>
            <a:ext cx="34861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5" name="Google Shape;925;p7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52925" y="2190750"/>
            <a:ext cx="3486150" cy="3028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6" name="Google Shape;926;p7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4825" y="2190750"/>
            <a:ext cx="3486150" cy="3028950"/>
          </a:xfrm>
          <a:prstGeom prst="rect">
            <a:avLst/>
          </a:prstGeom>
          <a:noFill/>
          <a:ln>
            <a:noFill/>
          </a:ln>
        </p:spPr>
      </p:pic>
      <p:sp>
        <p:nvSpPr>
          <p:cNvPr id="927" name="Google Shape;927;p72"/>
          <p:cNvSpPr txBox="1"/>
          <p:nvPr/>
        </p:nvSpPr>
        <p:spPr>
          <a:xfrm>
            <a:off x="1168955" y="3076575"/>
            <a:ext cx="2310288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GitHub Actions (CI/CD)</a:t>
            </a:r>
            <a:endParaRPr/>
          </a:p>
        </p:txBody>
      </p:sp>
      <p:sp>
        <p:nvSpPr>
          <p:cNvPr id="928" name="Google Shape;928;p72"/>
          <p:cNvSpPr txBox="1"/>
          <p:nvPr/>
        </p:nvSpPr>
        <p:spPr>
          <a:xfrm>
            <a:off x="876300" y="3629025"/>
            <a:ext cx="289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Automate your workflow. Run tests every time you push, or deploy your website automatically when you merge to main.</a:t>
            </a:r>
            <a:endParaRPr/>
          </a:p>
        </p:txBody>
      </p:sp>
      <p:sp>
        <p:nvSpPr>
          <p:cNvPr id="929" name="Google Shape;929;p72"/>
          <p:cNvSpPr txBox="1"/>
          <p:nvPr/>
        </p:nvSpPr>
        <p:spPr>
          <a:xfrm>
            <a:off x="5425916" y="3076575"/>
            <a:ext cx="134016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GitHub Pages</a:t>
            </a:r>
            <a:endParaRPr/>
          </a:p>
        </p:txBody>
      </p:sp>
      <p:sp>
        <p:nvSpPr>
          <p:cNvPr id="930" name="Google Shape;930;p72"/>
          <p:cNvSpPr txBox="1"/>
          <p:nvPr/>
        </p:nvSpPr>
        <p:spPr>
          <a:xfrm>
            <a:off x="4648200" y="3629025"/>
            <a:ext cx="2895600" cy="68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Host a static website (like a portfolio or blog) for free, directly from a GitHub repository.</a:t>
            </a:r>
            <a:endParaRPr/>
          </a:p>
        </p:txBody>
      </p:sp>
      <p:sp>
        <p:nvSpPr>
          <p:cNvPr id="931" name="Google Shape;931;p72"/>
          <p:cNvSpPr txBox="1"/>
          <p:nvPr/>
        </p:nvSpPr>
        <p:spPr>
          <a:xfrm>
            <a:off x="9452848" y="3076575"/>
            <a:ext cx="830103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Git GUIs</a:t>
            </a:r>
            <a:endParaRPr/>
          </a:p>
        </p:txBody>
      </p:sp>
      <p:sp>
        <p:nvSpPr>
          <p:cNvPr id="932" name="Google Shape;932;p72"/>
          <p:cNvSpPr txBox="1"/>
          <p:nvPr/>
        </p:nvSpPr>
        <p:spPr>
          <a:xfrm>
            <a:off x="8420100" y="3629025"/>
            <a:ext cx="2895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terminal is powerful, but GUIs (Graphical User Interfaces) can make visualizing history easier. Check out VS Code's built-in Git tools, GitKraken, or SourceTree.</a:t>
            </a:r>
            <a:endParaRPr/>
          </a:p>
        </p:txBody>
      </p:sp>
      <p:pic>
        <p:nvPicPr>
          <p:cNvPr id="933" name="Google Shape;933;p7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085975" y="2505075"/>
            <a:ext cx="4762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4" name="Google Shape;934;p72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905500" y="2505075"/>
            <a:ext cx="38100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35" name="Google Shape;935;p72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653587" y="2505075"/>
            <a:ext cx="428625" cy="381000"/>
          </a:xfrm>
          <a:prstGeom prst="rect">
            <a:avLst/>
          </a:prstGeom>
          <a:noFill/>
          <a:ln>
            <a:noFill/>
          </a:ln>
        </p:spPr>
      </p:pic>
      <p:sp>
        <p:nvSpPr>
          <p:cNvPr id="936" name="Google Shape;936;p72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What's Next?</a:t>
            </a:r>
            <a:endParaRPr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1" name="Google Shape;941;p7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2" name="Google Shape;942;p73"/>
          <p:cNvSpPr txBox="1"/>
          <p:nvPr/>
        </p:nvSpPr>
        <p:spPr>
          <a:xfrm>
            <a:off x="305276" y="2876550"/>
            <a:ext cx="11581447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Day 5: Final Questions?</a:t>
            </a:r>
            <a:endParaRPr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47" name="Google Shape;947;p7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48" name="Google Shape;948;p74"/>
          <p:cNvSpPr txBox="1"/>
          <p:nvPr/>
        </p:nvSpPr>
        <p:spPr>
          <a:xfrm>
            <a:off x="3375660" y="2662237"/>
            <a:ext cx="5440680" cy="809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25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Thank You!</a:t>
            </a:r>
            <a:endParaRPr/>
          </a:p>
        </p:txBody>
      </p:sp>
      <p:sp>
        <p:nvSpPr>
          <p:cNvPr id="949" name="Google Shape;949;p74"/>
          <p:cNvSpPr txBox="1"/>
          <p:nvPr/>
        </p:nvSpPr>
        <p:spPr>
          <a:xfrm>
            <a:off x="3505200" y="3662362"/>
            <a:ext cx="51816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You're now ready to use Git &amp; GitHub. Happy coding!</a:t>
            </a:r>
            <a:endParaRPr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4" name="Google Shape;954;p7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5" name="Google Shape;955;p75"/>
          <p:cNvSpPr/>
          <p:nvPr/>
        </p:nvSpPr>
        <p:spPr>
          <a:xfrm>
            <a:off x="914400" y="2157412"/>
            <a:ext cx="10363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6" name="Google Shape;956;p75"/>
          <p:cNvSpPr/>
          <p:nvPr/>
        </p:nvSpPr>
        <p:spPr>
          <a:xfrm>
            <a:off x="914400" y="2928937"/>
            <a:ext cx="10363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7" name="Google Shape;957;p75"/>
          <p:cNvSpPr/>
          <p:nvPr/>
        </p:nvSpPr>
        <p:spPr>
          <a:xfrm>
            <a:off x="914400" y="3700462"/>
            <a:ext cx="10363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8" name="Google Shape;958;p75"/>
          <p:cNvSpPr/>
          <p:nvPr/>
        </p:nvSpPr>
        <p:spPr>
          <a:xfrm>
            <a:off x="914400" y="4471987"/>
            <a:ext cx="10363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9" name="Google Shape;959;p75"/>
          <p:cNvSpPr/>
          <p:nvPr/>
        </p:nvSpPr>
        <p:spPr>
          <a:xfrm>
            <a:off x="914400" y="5243512"/>
            <a:ext cx="103632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0" name="Google Shape;960;p7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914400" y="15382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1" name="Google Shape;961;p75"/>
          <p:cNvSpPr txBox="1"/>
          <p:nvPr/>
        </p:nvSpPr>
        <p:spPr>
          <a:xfrm>
            <a:off x="2009775" y="1545431"/>
            <a:ext cx="9267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https://i.ytimg.com/vi/MAoAY1wYJuE/hq720.jpg?sqp=-oaymwEhCK4FEIIDSFryq4qpAxMIARUAAAAAGAElAADIQj0AgKJD&amp;rs=AOn4CLDelhYQ7S9C5HAnCLo0NGFt8rAhfw</a:t>
            </a:r>
            <a:endParaRPr/>
          </a:p>
        </p:txBody>
      </p:sp>
      <p:sp>
        <p:nvSpPr>
          <p:cNvPr id="962" name="Google Shape;962;p75"/>
          <p:cNvSpPr txBox="1"/>
          <p:nvPr/>
        </p:nvSpPr>
        <p:spPr>
          <a:xfrm>
            <a:off x="2009775" y="1778793"/>
            <a:ext cx="9267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www.youtube.com</a:t>
            </a:r>
            <a:endParaRPr/>
          </a:p>
        </p:txBody>
      </p:sp>
      <p:pic>
        <p:nvPicPr>
          <p:cNvPr id="963" name="Google Shape;963;p7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23098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4" name="Google Shape;964;p75"/>
          <p:cNvSpPr txBox="1"/>
          <p:nvPr/>
        </p:nvSpPr>
        <p:spPr>
          <a:xfrm>
            <a:off x="2009775" y="2316956"/>
            <a:ext cx="9267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https://i.sstatic.net/E4xNk.png</a:t>
            </a:r>
            <a:endParaRPr/>
          </a:p>
        </p:txBody>
      </p:sp>
      <p:sp>
        <p:nvSpPr>
          <p:cNvPr id="965" name="Google Shape;965;p75"/>
          <p:cNvSpPr txBox="1"/>
          <p:nvPr/>
        </p:nvSpPr>
        <p:spPr>
          <a:xfrm>
            <a:off x="2009775" y="2550318"/>
            <a:ext cx="9267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stackoverflow.com</a:t>
            </a:r>
            <a:endParaRPr/>
          </a:p>
        </p:txBody>
      </p:sp>
      <p:pic>
        <p:nvPicPr>
          <p:cNvPr id="966" name="Google Shape;966;p7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14400" y="308133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67" name="Google Shape;967;p75"/>
          <p:cNvSpPr txBox="1"/>
          <p:nvPr/>
        </p:nvSpPr>
        <p:spPr>
          <a:xfrm>
            <a:off x="2009775" y="3088481"/>
            <a:ext cx="9267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https://i.sstatic.net/k5Gdu.png</a:t>
            </a:r>
            <a:endParaRPr/>
          </a:p>
        </p:txBody>
      </p:sp>
      <p:sp>
        <p:nvSpPr>
          <p:cNvPr id="968" name="Google Shape;968;p75"/>
          <p:cNvSpPr txBox="1"/>
          <p:nvPr/>
        </p:nvSpPr>
        <p:spPr>
          <a:xfrm>
            <a:off x="2009775" y="3321843"/>
            <a:ext cx="9267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stackoverflow.com</a:t>
            </a:r>
            <a:endParaRPr/>
          </a:p>
        </p:txBody>
      </p:sp>
      <p:pic>
        <p:nvPicPr>
          <p:cNvPr id="969" name="Google Shape;969;p7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914400" y="385286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0" name="Google Shape;970;p75"/>
          <p:cNvSpPr txBox="1"/>
          <p:nvPr/>
        </p:nvSpPr>
        <p:spPr>
          <a:xfrm>
            <a:off x="2009775" y="3860006"/>
            <a:ext cx="9267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https://i.sstatic.net/rTxx9.png</a:t>
            </a:r>
            <a:endParaRPr/>
          </a:p>
        </p:txBody>
      </p:sp>
      <p:sp>
        <p:nvSpPr>
          <p:cNvPr id="971" name="Google Shape;971;p75"/>
          <p:cNvSpPr txBox="1"/>
          <p:nvPr/>
        </p:nvSpPr>
        <p:spPr>
          <a:xfrm>
            <a:off x="2009775" y="4093368"/>
            <a:ext cx="9267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stackoverflow.com</a:t>
            </a:r>
            <a:endParaRPr/>
          </a:p>
        </p:txBody>
      </p:sp>
      <p:pic>
        <p:nvPicPr>
          <p:cNvPr id="972" name="Google Shape;972;p7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14400" y="4624387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3" name="Google Shape;973;p75"/>
          <p:cNvSpPr txBox="1"/>
          <p:nvPr/>
        </p:nvSpPr>
        <p:spPr>
          <a:xfrm>
            <a:off x="2009775" y="4631531"/>
            <a:ext cx="9267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https://www.tutorialspoint.com/assets/questions/media/51682/3_way_merge1.jpg</a:t>
            </a:r>
            <a:endParaRPr/>
          </a:p>
        </p:txBody>
      </p:sp>
      <p:sp>
        <p:nvSpPr>
          <p:cNvPr id="974" name="Google Shape;974;p75"/>
          <p:cNvSpPr txBox="1"/>
          <p:nvPr/>
        </p:nvSpPr>
        <p:spPr>
          <a:xfrm>
            <a:off x="2009775" y="4864893"/>
            <a:ext cx="9267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www.tutorialspoint.com</a:t>
            </a:r>
            <a:endParaRPr/>
          </a:p>
        </p:txBody>
      </p:sp>
      <p:pic>
        <p:nvPicPr>
          <p:cNvPr id="975" name="Google Shape;975;p7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14400" y="53959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76" name="Google Shape;976;p75"/>
          <p:cNvSpPr txBox="1"/>
          <p:nvPr/>
        </p:nvSpPr>
        <p:spPr>
          <a:xfrm>
            <a:off x="2009775" y="5403056"/>
            <a:ext cx="926782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https://www.devguide.at/wp-content/uploads/2019/06/git-basic-commands.png</a:t>
            </a:r>
            <a:endParaRPr/>
          </a:p>
        </p:txBody>
      </p:sp>
      <p:sp>
        <p:nvSpPr>
          <p:cNvPr id="977" name="Google Shape;977;p75"/>
          <p:cNvSpPr txBox="1"/>
          <p:nvPr/>
        </p:nvSpPr>
        <p:spPr>
          <a:xfrm>
            <a:off x="2009775" y="5636418"/>
            <a:ext cx="926782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www.devguide.at</a:t>
            </a:r>
            <a:endParaRPr/>
          </a:p>
        </p:txBody>
      </p:sp>
      <p:sp>
        <p:nvSpPr>
          <p:cNvPr id="978" name="Google Shape;978;p75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3" name="Google Shape;983;p7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4" name="Google Shape;984;p76"/>
          <p:cNvSpPr/>
          <p:nvPr/>
        </p:nvSpPr>
        <p:spPr>
          <a:xfrm>
            <a:off x="2638425" y="2543175"/>
            <a:ext cx="69151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5" name="Google Shape;985;p76"/>
          <p:cNvSpPr/>
          <p:nvPr/>
        </p:nvSpPr>
        <p:spPr>
          <a:xfrm>
            <a:off x="2638425" y="3314700"/>
            <a:ext cx="69151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6" name="Google Shape;986;p76"/>
          <p:cNvSpPr/>
          <p:nvPr/>
        </p:nvSpPr>
        <p:spPr>
          <a:xfrm>
            <a:off x="2638425" y="4086225"/>
            <a:ext cx="69151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7" name="Google Shape;987;p76"/>
          <p:cNvSpPr/>
          <p:nvPr/>
        </p:nvSpPr>
        <p:spPr>
          <a:xfrm>
            <a:off x="2638425" y="4857750"/>
            <a:ext cx="691515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8" name="Google Shape;988;p7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638425" y="19240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89" name="Google Shape;989;p76"/>
          <p:cNvSpPr txBox="1"/>
          <p:nvPr/>
        </p:nvSpPr>
        <p:spPr>
          <a:xfrm>
            <a:off x="3733800" y="1931193"/>
            <a:ext cx="58197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https://docs.github.com/assets/cb-87213/images/help/pull_requests/pull-request-review-edit-branch.png</a:t>
            </a:r>
            <a:endParaRPr/>
          </a:p>
        </p:txBody>
      </p:sp>
      <p:sp>
        <p:nvSpPr>
          <p:cNvPr id="990" name="Google Shape;990;p76"/>
          <p:cNvSpPr txBox="1"/>
          <p:nvPr/>
        </p:nvSpPr>
        <p:spPr>
          <a:xfrm>
            <a:off x="3733800" y="2164556"/>
            <a:ext cx="5819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docs.github.com</a:t>
            </a:r>
            <a:endParaRPr/>
          </a:p>
        </p:txBody>
      </p:sp>
      <p:pic>
        <p:nvPicPr>
          <p:cNvPr id="991" name="Google Shape;991;p76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638425" y="269557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2" name="Google Shape;992;p76"/>
          <p:cNvSpPr txBox="1"/>
          <p:nvPr/>
        </p:nvSpPr>
        <p:spPr>
          <a:xfrm>
            <a:off x="3733800" y="2702718"/>
            <a:ext cx="58197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https://docs.github.com/assets/cb-109516/images/help/pull_requests/diff-settings-menu.png</a:t>
            </a:r>
            <a:endParaRPr/>
          </a:p>
        </p:txBody>
      </p:sp>
      <p:sp>
        <p:nvSpPr>
          <p:cNvPr id="993" name="Google Shape;993;p76"/>
          <p:cNvSpPr txBox="1"/>
          <p:nvPr/>
        </p:nvSpPr>
        <p:spPr>
          <a:xfrm>
            <a:off x="3733800" y="2936081"/>
            <a:ext cx="5819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docs.github.com</a:t>
            </a:r>
            <a:endParaRPr/>
          </a:p>
        </p:txBody>
      </p:sp>
      <p:pic>
        <p:nvPicPr>
          <p:cNvPr id="994" name="Google Shape;994;p76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638425" y="34671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5" name="Google Shape;995;p76"/>
          <p:cNvSpPr txBox="1"/>
          <p:nvPr/>
        </p:nvSpPr>
        <p:spPr>
          <a:xfrm>
            <a:off x="3733800" y="3474243"/>
            <a:ext cx="58197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https://miro.medium.com/1*NbRsghbBK86UskBm5WGu7w.png</a:t>
            </a:r>
            <a:endParaRPr/>
          </a:p>
        </p:txBody>
      </p:sp>
      <p:sp>
        <p:nvSpPr>
          <p:cNvPr id="996" name="Google Shape;996;p76"/>
          <p:cNvSpPr txBox="1"/>
          <p:nvPr/>
        </p:nvSpPr>
        <p:spPr>
          <a:xfrm>
            <a:off x="3733800" y="3707606"/>
            <a:ext cx="5819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medium.com</a:t>
            </a:r>
            <a:endParaRPr/>
          </a:p>
        </p:txBody>
      </p:sp>
      <p:pic>
        <p:nvPicPr>
          <p:cNvPr id="997" name="Google Shape;997;p76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2638425" y="42386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998" name="Google Shape;998;p76"/>
          <p:cNvSpPr txBox="1"/>
          <p:nvPr/>
        </p:nvSpPr>
        <p:spPr>
          <a:xfrm>
            <a:off x="3733800" y="4245768"/>
            <a:ext cx="58197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https://blog.yarsalabs.com/content/images/2022/10/image-9.png</a:t>
            </a:r>
            <a:endParaRPr/>
          </a:p>
        </p:txBody>
      </p:sp>
      <p:sp>
        <p:nvSpPr>
          <p:cNvPr id="999" name="Google Shape;999;p76"/>
          <p:cNvSpPr txBox="1"/>
          <p:nvPr/>
        </p:nvSpPr>
        <p:spPr>
          <a:xfrm>
            <a:off x="3733800" y="4479131"/>
            <a:ext cx="5819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blog.yarsalabs.com</a:t>
            </a:r>
            <a:endParaRPr/>
          </a:p>
        </p:txBody>
      </p:sp>
      <p:pic>
        <p:nvPicPr>
          <p:cNvPr id="1000" name="Google Shape;1000;p76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2638425" y="50101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001" name="Google Shape;1001;p76"/>
          <p:cNvSpPr txBox="1"/>
          <p:nvPr/>
        </p:nvSpPr>
        <p:spPr>
          <a:xfrm>
            <a:off x="3733800" y="5017293"/>
            <a:ext cx="5819775" cy="185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https://assets.bytebytego.com/diagrams/0203-git-merge-git-rebase.jpg</a:t>
            </a:r>
            <a:endParaRPr/>
          </a:p>
        </p:txBody>
      </p:sp>
      <p:sp>
        <p:nvSpPr>
          <p:cNvPr id="1002" name="Google Shape;1002;p76"/>
          <p:cNvSpPr txBox="1"/>
          <p:nvPr/>
        </p:nvSpPr>
        <p:spPr>
          <a:xfrm>
            <a:off x="3733800" y="5250656"/>
            <a:ext cx="5819775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Source: </a:t>
            </a:r>
            <a:r>
              <a:rPr lang="en-US" sz="1200" b="0" i="0" u="none" strike="noStrike" cap="none">
                <a:solidFill>
                  <a:srgbClr val="4F46E5"/>
                </a:solidFill>
                <a:latin typeface="Urbanist"/>
                <a:ea typeface="Urbanist"/>
                <a:cs typeface="Urbanist"/>
                <a:sym typeface="Urbanist"/>
              </a:rPr>
              <a:t>bytebytego.com</a:t>
            </a:r>
            <a:endParaRPr/>
          </a:p>
        </p:txBody>
      </p:sp>
      <p:sp>
        <p:nvSpPr>
          <p:cNvPr id="1003" name="Google Shape;1003;p76"/>
          <p:cNvSpPr txBox="1"/>
          <p:nvPr/>
        </p:nvSpPr>
        <p:spPr>
          <a:xfrm>
            <a:off x="581025" y="581025"/>
            <a:ext cx="11581447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8FAFC"/>
                </a:solidFill>
                <a:latin typeface="Urbanist"/>
                <a:ea typeface="Urbanist"/>
                <a:cs typeface="Urbanist"/>
                <a:sym typeface="Urbanist"/>
              </a:rPr>
              <a:t>Image Sources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5158</Words>
  <Application>Microsoft Office PowerPoint</Application>
  <PresentationFormat>Widescreen</PresentationFormat>
  <Paragraphs>425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8" baseType="lpstr">
      <vt:lpstr>Urbanist</vt:lpstr>
      <vt:lpstr>Calibri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nagababu e</cp:lastModifiedBy>
  <cp:revision>1</cp:revision>
  <dcterms:modified xsi:type="dcterms:W3CDTF">2025-11-23T06:19:59Z</dcterms:modified>
</cp:coreProperties>
</file>